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built Jot for the Education track: an in-browser tutor that can see the work a student chooses to share, talk it through out loud, and point at the exact step that needs attention. The key idea is that it teaches instead of telling.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problems. AI tools give answers, which feels helpful but skips the learning. They can't see the student's actual work. And they know nothing about the student's course: the syllabus, the professor's notation, the old exams.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is three steps. The browser's own picker chooses what to share, nothing is captured silently. Then the student just asks, by voice or text, and Jot answers about what's on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Education track entry. The tutor's instructions make it hint first. It can point at the exact spot on the student's work. Check my steps mode follows along and gives a short corrective hint when it sees a clear mistake, and stays quiet otherwise. And it's honest: it prefers the class notes and says when they don't cover something.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video: click it, or press Alt+P while it's selected. It runs 1 minute 40 seconds. If time is short, jump to the chapters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make a class per course and upload materials. Those uploads become the tutor's background in that class, so explanations match the course's notation. They also generate study sets, and every question links back to its source, so students can check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practice. On the left, a class PDF opened on the stage instead of a shared screen: the student flips pages and Jot can mark them. On the right, Check my steps: it follows along and gives a short hint only when it sees a clear mistake. Language lock helps multilingual students learn in the language they think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it's for: the student stuck late at night, the student prepping for an exam from their own notes, multilingual learners, and anyone who learns by explaining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for a tool that sees a student's screen. The browser's picker controls what's shared, live media is only held in memory, and the model can't click or type: its only visual action is a temporary mark that the browser validates before drawing.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The browser previews the shared screen and relays sampled frames and mic audio over a same-origin WebSocket. The FastAPI server holds the Gemini key, issues one-use tickets, builds class context, and runs the tools: annotations, a bounded calculator, Lean proof checking, and Google Search. Marks come back in Gemini's native box format and are converted and validated before the browser draws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importing course materials directly from a course site, supporting handwritten work, and group study sessions. These are plans, not built yet.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Live demo setup: start the backend with backend\.venv\Scripts\python -m uvicorn app.main:app --app-dir backend --reload, then in frontend run npm run dev and open http://127.0.0.1:5173. Quick tutor works without an account; classes need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3.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8.png"/><Relationship Id="rId4" Type="http://schemas.openxmlformats.org/officeDocument/2006/relationships/image" Target="../media/image2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Pill: HackRU Fall 2026  ·  Education Track"/>
          <p:cNvSpPr/>
          <p:nvPr/>
        </p:nvSpPr>
        <p:spPr>
          <a:xfrm>
            <a:off x="1188720" y="731520"/>
            <a:ext cx="3378491" cy="373380"/>
          </a:xfrm>
          <a:prstGeom prst="roundRect">
            <a:avLst>
              <a:gd name="adj" fmla="val 50000"/>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400" b="1">
                <a:solidFill>
                  <a:srgbClr val="FFFDF7"/>
                </a:solidFill>
                <a:latin typeface="Calibri"/>
              </a:rPr>
              <a:t>HackRU Fall 2026  ·  Education Track</a:t>
            </a:r>
          </a:p>
        </p:txBody>
      </p:sp>
      <p:sp>
        <p:nvSpPr>
          <p:cNvPr id="19" name="Highlighter"/>
          <p:cNvSpPr/>
          <p:nvPr/>
        </p:nvSpPr>
        <p:spPr>
          <a:xfrm>
            <a:off x="1115568" y="2598420"/>
            <a:ext cx="2462784" cy="80010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itle"/>
          <p:cNvSpPr txBox="1"/>
          <p:nvPr/>
        </p:nvSpPr>
        <p:spPr>
          <a:xfrm>
            <a:off x="1188720" y="1417320"/>
            <a:ext cx="2865120" cy="2571750"/>
          </a:xfrm>
          <a:prstGeom prst="rect">
            <a:avLst/>
          </a:prstGeom>
          <a:noFill/>
        </p:spPr>
        <p:txBody>
          <a:bodyPr wrap="square" lIns="0" rIns="0" tIns="0" bIns="0" anchor="t">
            <a:spAutoFit/>
          </a:bodyPr>
          <a:lstStyle/>
          <a:p>
            <a:pPr algn="l">
              <a:lnSpc>
                <a:spcPct val="110000"/>
              </a:lnSpc>
            </a:pPr>
            <a:r>
              <a:rPr sz="15000" b="1" i="0">
                <a:solidFill>
                  <a:srgbClr val="1C2E37"/>
                </a:solidFill>
                <a:latin typeface="Calibri"/>
              </a:rPr>
              <a:t>Jot</a:t>
            </a:r>
          </a:p>
        </p:txBody>
      </p:sp>
      <p:sp>
        <p:nvSpPr>
          <p:cNvPr id="21" name="Tagline"/>
          <p:cNvSpPr txBox="1"/>
          <p:nvPr/>
        </p:nvSpPr>
        <p:spPr>
          <a:xfrm>
            <a:off x="1188720" y="3703320"/>
            <a:ext cx="6583680" cy="1188720"/>
          </a:xfrm>
          <a:prstGeom prst="rect">
            <a:avLst/>
          </a:prstGeom>
          <a:noFill/>
        </p:spPr>
        <p:txBody>
          <a:bodyPr wrap="square" lIns="0" rIns="0" tIns="0" bIns="0" anchor="t">
            <a:spAutoFit/>
          </a:bodyPr>
          <a:lstStyle/>
          <a:p>
            <a:pPr algn="l">
              <a:lnSpc>
                <a:spcPct val="100000"/>
              </a:lnSpc>
            </a:pPr>
            <a:r>
              <a:rPr sz="3200" b="1" i="0">
                <a:solidFill>
                  <a:srgbClr val="1C2E37"/>
                </a:solidFill>
                <a:latin typeface="Calibri"/>
              </a:rPr>
              <a:t>The study buddy that sees your screen and teaches instead of telling.</a:t>
            </a:r>
          </a:p>
        </p:txBody>
      </p:sp>
      <p:sp>
        <p:nvSpPr>
          <p:cNvPr id="22" name="Pitch"/>
          <p:cNvSpPr txBox="1"/>
          <p:nvPr/>
        </p:nvSpPr>
        <p:spPr>
          <a:xfrm>
            <a:off x="1188720" y="5074920"/>
            <a:ext cx="6400800" cy="457200"/>
          </a:xfrm>
          <a:prstGeom prst="rect">
            <a:avLst/>
          </a:prstGeom>
          <a:noFill/>
        </p:spPr>
        <p:txBody>
          <a:bodyPr wrap="square" lIns="0" rIns="0" tIns="0" bIns="0" anchor="t">
            <a:spAutoFit/>
          </a:bodyPr>
          <a:lstStyle/>
          <a:p>
            <a:pPr algn="l">
              <a:lnSpc>
                <a:spcPct val="110000"/>
              </a:lnSpc>
            </a:pPr>
            <a:r>
              <a:rPr sz="1800" b="0" i="0">
                <a:solidFill>
                  <a:srgbClr val="4D5F68"/>
                </a:solidFill>
                <a:latin typeface="Calibri"/>
              </a:rPr>
              <a:t>Share your screen or a class PDF, ask out loud, and get hints, not answers.</a:t>
            </a:r>
          </a:p>
        </p:txBody>
      </p:sp>
      <p:sp>
        <p:nvSpPr>
          <p:cNvPr id="23" name="Built with"/>
          <p:cNvSpPr txBox="1"/>
          <p:nvPr/>
        </p:nvSpPr>
        <p:spPr>
          <a:xfrm>
            <a:off x="1188720" y="5989320"/>
            <a:ext cx="6400800" cy="365760"/>
          </a:xfrm>
          <a:prstGeom prst="rect">
            <a:avLst/>
          </a:prstGeom>
          <a:noFill/>
        </p:spPr>
        <p:txBody>
          <a:bodyPr wrap="square" lIns="0" rIns="0" tIns="0" bIns="0" anchor="t">
            <a:spAutoFit/>
          </a:bodyPr>
          <a:lstStyle/>
          <a:p>
            <a:pPr algn="l">
              <a:lnSpc>
                <a:spcPct val="110000"/>
              </a:lnSpc>
            </a:pPr>
            <a:r>
              <a:rPr sz="1300" b="0" i="0">
                <a:solidFill>
                  <a:srgbClr val="4D5F68"/>
                </a:solidFill>
                <a:latin typeface="Calibri"/>
              </a:rPr>
              <a:t>Built with Gemini Live, FastAPI, and vanilla JavaScript</a:t>
            </a:r>
          </a:p>
        </p:txBody>
      </p:sp>
      <p:pic>
        <p:nvPicPr>
          <p:cNvPr id="24" name="Jot, the mascot, waving hello" descr="Jot, the mascot, waving hello"/>
          <p:cNvPicPr>
            <a:picLocks noChangeAspect="1"/>
          </p:cNvPicPr>
          <p:nvPr/>
        </p:nvPicPr>
        <p:blipFill>
          <a:blip r:embed="rId2"/>
          <a:stretch>
            <a:fillRect/>
          </a:stretch>
        </p:blipFill>
        <p:spPr>
          <a:xfrm>
            <a:off x="7589520" y="914400"/>
            <a:ext cx="4937760" cy="4937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8148320"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8550656"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Homework help is broken for learning</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Students can get answers in seconds. Getting understanding is still hard.</a:t>
            </a:r>
          </a:p>
        </p:txBody>
      </p:sp>
      <p:sp>
        <p:nvSpPr>
          <p:cNvPr id="21" name="Card: Answers, not understanding"/>
          <p:cNvSpPr/>
          <p:nvPr/>
        </p:nvSpPr>
        <p:spPr>
          <a:xfrm rot="21510000">
            <a:off x="1188720" y="2240280"/>
            <a:ext cx="3063240" cy="274320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Answers, not understanding</a:t>
            </a:r>
          </a:p>
          <a:p>
            <a:pPr algn="l">
              <a:lnSpc>
                <a:spcPct val="110000"/>
              </a:lnSpc>
              <a:spcBef>
                <a:spcPts val="600"/>
              </a:spcBef>
            </a:pPr>
            <a:r>
              <a:rPr sz="1500">
                <a:solidFill>
                  <a:srgbClr val="4D5F68"/>
                </a:solidFill>
                <a:latin typeface="Calibri"/>
              </a:rPr>
              <a:t>Chatbots hand over full solutions, so students copy the result instead of finding the step they missed.</a:t>
            </a:r>
          </a:p>
        </p:txBody>
      </p:sp>
      <p:sp>
        <p:nvSpPr>
          <p:cNvPr id="22" name="Divider tab"/>
          <p:cNvSpPr/>
          <p:nvPr/>
        </p:nvSpPr>
        <p:spPr>
          <a:xfrm rot="21510000">
            <a:off x="1508760" y="2139696"/>
            <a:ext cx="685800" cy="118872"/>
          </a:xfrm>
          <a:prstGeom prst="round2SameRect">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con badge"/>
          <p:cNvSpPr/>
          <p:nvPr/>
        </p:nvSpPr>
        <p:spPr>
          <a:xfrm rot="21150000">
            <a:off x="1463040" y="249631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on-quiz.png"/>
          <p:cNvPicPr>
            <a:picLocks noChangeAspect="1"/>
          </p:cNvPicPr>
          <p:nvPr/>
        </p:nvPicPr>
        <p:blipFill>
          <a:blip r:embed="rId2"/>
          <a:stretch>
            <a:fillRect/>
          </a:stretch>
        </p:blipFill>
        <p:spPr>
          <a:xfrm>
            <a:off x="1554480" y="2587752"/>
            <a:ext cx="329184" cy="329184"/>
          </a:xfrm>
          <a:prstGeom prst="rect">
            <a:avLst/>
          </a:prstGeom>
        </p:spPr>
      </p:pic>
      <p:sp>
        <p:nvSpPr>
          <p:cNvPr id="25" name="Card: Blind to your work"/>
          <p:cNvSpPr/>
          <p:nvPr/>
        </p:nvSpPr>
        <p:spPr>
          <a:xfrm rot="72000">
            <a:off x="4526280" y="2240280"/>
            <a:ext cx="3063240" cy="274320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Blind to your work</a:t>
            </a:r>
          </a:p>
          <a:p>
            <a:pPr algn="l">
              <a:lnSpc>
                <a:spcPct val="110000"/>
              </a:lnSpc>
              <a:spcBef>
                <a:spcPts val="600"/>
              </a:spcBef>
            </a:pPr>
            <a:r>
              <a:rPr sz="1500">
                <a:solidFill>
                  <a:srgbClr val="4D5F68"/>
                </a:solidFill>
                <a:latin typeface="Calibri"/>
              </a:rPr>
              <a:t>Help can't see the problem. Students retype equations and lose the diagram, the notes, and where they got stuck.</a:t>
            </a:r>
          </a:p>
        </p:txBody>
      </p:sp>
      <p:sp>
        <p:nvSpPr>
          <p:cNvPr id="26" name="Divider tab"/>
          <p:cNvSpPr/>
          <p:nvPr/>
        </p:nvSpPr>
        <p:spPr>
          <a:xfrm rot="72000">
            <a:off x="4846320" y="2139696"/>
            <a:ext cx="685800" cy="118872"/>
          </a:xfrm>
          <a:prstGeom prst="round2SameRect">
            <a:avLst/>
          </a:prstGeom>
          <a:solidFill>
            <a:srgbClr val="4F7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con badge"/>
          <p:cNvSpPr/>
          <p:nvPr/>
        </p:nvSpPr>
        <p:spPr>
          <a:xfrm rot="21312000">
            <a:off x="4800600" y="249631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n-monitor.png"/>
          <p:cNvPicPr>
            <a:picLocks noChangeAspect="1"/>
          </p:cNvPicPr>
          <p:nvPr/>
        </p:nvPicPr>
        <p:blipFill>
          <a:blip r:embed="rId3"/>
          <a:stretch>
            <a:fillRect/>
          </a:stretch>
        </p:blipFill>
        <p:spPr>
          <a:xfrm>
            <a:off x="4892040" y="2587752"/>
            <a:ext cx="329184" cy="329184"/>
          </a:xfrm>
          <a:prstGeom prst="rect">
            <a:avLst/>
          </a:prstGeom>
        </p:spPr>
      </p:pic>
      <p:sp>
        <p:nvSpPr>
          <p:cNvPr id="29" name="Card: Your course sits in a folder"/>
          <p:cNvSpPr/>
          <p:nvPr/>
        </p:nvSpPr>
        <p:spPr>
          <a:xfrm rot="21552000">
            <a:off x="7863840" y="2240280"/>
            <a:ext cx="3063240" cy="274320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Your course sits in a folder</a:t>
            </a:r>
          </a:p>
          <a:p>
            <a:pPr algn="l">
              <a:lnSpc>
                <a:spcPct val="110000"/>
              </a:lnSpc>
              <a:spcBef>
                <a:spcPts val="600"/>
              </a:spcBef>
            </a:pPr>
            <a:r>
              <a:rPr sz="1500">
                <a:solidFill>
                  <a:srgbClr val="4D5F68"/>
                </a:solidFill>
                <a:latin typeface="Calibri"/>
              </a:rPr>
              <a:t>Syllabus, lecture slides, notes, and past exams never shape the help a student gets.</a:t>
            </a:r>
          </a:p>
        </p:txBody>
      </p:sp>
      <p:sp>
        <p:nvSpPr>
          <p:cNvPr id="30" name="Divider tab"/>
          <p:cNvSpPr/>
          <p:nvPr/>
        </p:nvSpPr>
        <p:spPr>
          <a:xfrm rot="21552000">
            <a:off x="8183880" y="2139696"/>
            <a:ext cx="685800" cy="118872"/>
          </a:xfrm>
          <a:prstGeom prst="round2SameRect">
            <a:avLst/>
          </a:prstGeom>
          <a:solidFill>
            <a:srgbClr val="A33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con badge"/>
          <p:cNvSpPr/>
          <p:nvPr/>
        </p:nvSpPr>
        <p:spPr>
          <a:xfrm rot="21192000">
            <a:off x="8138160" y="249631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book.png"/>
          <p:cNvPicPr>
            <a:picLocks noChangeAspect="1"/>
          </p:cNvPicPr>
          <p:nvPr/>
        </p:nvPicPr>
        <p:blipFill>
          <a:blip r:embed="rId4"/>
          <a:stretch>
            <a:fillRect/>
          </a:stretch>
        </p:blipFill>
        <p:spPr>
          <a:xfrm>
            <a:off x="8229600" y="2587752"/>
            <a:ext cx="329184" cy="329184"/>
          </a:xfrm>
          <a:prstGeom prst="rect">
            <a:avLst/>
          </a:prstGeom>
        </p:spPr>
      </p:pic>
      <p:pic>
        <p:nvPicPr>
          <p:cNvPr id="33" name="Jot looking confused" descr="Jot looking confused"/>
          <p:cNvPicPr>
            <a:picLocks noChangeAspect="1"/>
          </p:cNvPicPr>
          <p:nvPr/>
        </p:nvPicPr>
        <p:blipFill>
          <a:blip r:embed="rId5"/>
          <a:stretch>
            <a:fillRect/>
          </a:stretch>
        </p:blipFill>
        <p:spPr>
          <a:xfrm>
            <a:off x="10378440" y="4892040"/>
            <a:ext cx="1783080" cy="17830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5225796"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5628132"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Share. Ask. Understand.</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A tutor session takes seconds to start, right in the browser.</a:t>
            </a:r>
          </a:p>
        </p:txBody>
      </p:sp>
      <p:sp>
        <p:nvSpPr>
          <p:cNvPr id="21" name="Step 1"/>
          <p:cNvSpPr/>
          <p:nvPr/>
        </p:nvSpPr>
        <p:spPr>
          <a:xfrm>
            <a:off x="1188720" y="2148840"/>
            <a:ext cx="566928" cy="566928"/>
          </a:xfrm>
          <a:prstGeom prst="ellipse">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DF7"/>
                </a:solidFill>
                <a:latin typeface="Calibri"/>
              </a:rPr>
              <a:t>1</a:t>
            </a:r>
          </a:p>
        </p:txBody>
      </p:sp>
      <p:sp>
        <p:nvSpPr>
          <p:cNvPr id="22" name="Share"/>
          <p:cNvSpPr txBox="1"/>
          <p:nvPr/>
        </p:nvSpPr>
        <p:spPr>
          <a:xfrm>
            <a:off x="2011680" y="2103120"/>
            <a:ext cx="3931920" cy="1097280"/>
          </a:xfrm>
          <a:prstGeom prst="rect">
            <a:avLst/>
          </a:prstGeom>
          <a:noFill/>
        </p:spPr>
        <p:txBody>
          <a:bodyPr wrap="square" lIns="0" rIns="0" tIns="0" bIns="0" anchor="t">
            <a:spAutoFit/>
          </a:bodyPr>
          <a:lstStyle/>
          <a:p>
            <a:pPr algn="l">
              <a:lnSpc>
                <a:spcPct val="110000"/>
              </a:lnSpc>
            </a:pPr>
            <a:r>
              <a:rPr sz="2200" b="1" i="0">
                <a:solidFill>
                  <a:srgbClr val="1C2E37"/>
                </a:solidFill>
                <a:latin typeface="Calibri"/>
              </a:rPr>
              <a:t>Share</a:t>
            </a:r>
          </a:p>
          <a:p>
            <a:pPr algn="l">
              <a:lnSpc>
                <a:spcPct val="110000"/>
              </a:lnSpc>
              <a:spcBef>
                <a:spcPts val="300"/>
              </a:spcBef>
            </a:pPr>
            <a:r>
              <a:rPr sz="1500" b="0" i="0">
                <a:solidFill>
                  <a:srgbClr val="4D5F68"/>
                </a:solidFill>
                <a:latin typeface="Calibri"/>
              </a:rPr>
              <a:t>Pick a tab, a window, or your whole screen, or open one of your class PDFs on the stage.</a:t>
            </a:r>
          </a:p>
        </p:txBody>
      </p:sp>
      <p:sp>
        <p:nvSpPr>
          <p:cNvPr id="23" name="Step 2"/>
          <p:cNvSpPr/>
          <p:nvPr/>
        </p:nvSpPr>
        <p:spPr>
          <a:xfrm>
            <a:off x="1188720" y="3474720"/>
            <a:ext cx="566928" cy="566928"/>
          </a:xfrm>
          <a:prstGeom prst="ellipse">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DF7"/>
                </a:solidFill>
                <a:latin typeface="Calibri"/>
              </a:rPr>
              <a:t>2</a:t>
            </a:r>
          </a:p>
        </p:txBody>
      </p:sp>
      <p:sp>
        <p:nvSpPr>
          <p:cNvPr id="24" name="Ask"/>
          <p:cNvSpPr txBox="1"/>
          <p:nvPr/>
        </p:nvSpPr>
        <p:spPr>
          <a:xfrm>
            <a:off x="2011680" y="3429000"/>
            <a:ext cx="3931920" cy="1097280"/>
          </a:xfrm>
          <a:prstGeom prst="rect">
            <a:avLst/>
          </a:prstGeom>
          <a:noFill/>
        </p:spPr>
        <p:txBody>
          <a:bodyPr wrap="square" lIns="0" rIns="0" tIns="0" bIns="0" anchor="t">
            <a:spAutoFit/>
          </a:bodyPr>
          <a:lstStyle/>
          <a:p>
            <a:pPr algn="l">
              <a:lnSpc>
                <a:spcPct val="110000"/>
              </a:lnSpc>
            </a:pPr>
            <a:r>
              <a:rPr sz="2200" b="1" i="0">
                <a:solidFill>
                  <a:srgbClr val="1C2E37"/>
                </a:solidFill>
                <a:latin typeface="Calibri"/>
              </a:rPr>
              <a:t>Ask</a:t>
            </a:r>
          </a:p>
          <a:p>
            <a:pPr algn="l">
              <a:lnSpc>
                <a:spcPct val="110000"/>
              </a:lnSpc>
              <a:spcBef>
                <a:spcPts val="300"/>
              </a:spcBef>
            </a:pPr>
            <a:r>
              <a:rPr sz="1500" b="0" i="0">
                <a:solidFill>
                  <a:srgbClr val="4D5F68"/>
                </a:solidFill>
                <a:latin typeface="Calibri"/>
              </a:rPr>
              <a:t>Talk out loud or type. You can interrupt Jot anytime, like a real conversation.</a:t>
            </a:r>
          </a:p>
        </p:txBody>
      </p:sp>
      <p:sp>
        <p:nvSpPr>
          <p:cNvPr id="25" name="Step 3"/>
          <p:cNvSpPr/>
          <p:nvPr/>
        </p:nvSpPr>
        <p:spPr>
          <a:xfrm>
            <a:off x="1188720" y="4800600"/>
            <a:ext cx="566928" cy="566928"/>
          </a:xfrm>
          <a:prstGeom prst="ellipse">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DF7"/>
                </a:solidFill>
                <a:latin typeface="Calibri"/>
              </a:rPr>
              <a:t>3</a:t>
            </a:r>
          </a:p>
        </p:txBody>
      </p:sp>
      <p:sp>
        <p:nvSpPr>
          <p:cNvPr id="26" name="Understand"/>
          <p:cNvSpPr txBox="1"/>
          <p:nvPr/>
        </p:nvSpPr>
        <p:spPr>
          <a:xfrm>
            <a:off x="2011680" y="4754880"/>
            <a:ext cx="3931920" cy="1097280"/>
          </a:xfrm>
          <a:prstGeom prst="rect">
            <a:avLst/>
          </a:prstGeom>
          <a:noFill/>
        </p:spPr>
        <p:txBody>
          <a:bodyPr wrap="square" lIns="0" rIns="0" tIns="0" bIns="0" anchor="t">
            <a:spAutoFit/>
          </a:bodyPr>
          <a:lstStyle/>
          <a:p>
            <a:pPr algn="l">
              <a:lnSpc>
                <a:spcPct val="110000"/>
              </a:lnSpc>
            </a:pPr>
            <a:r>
              <a:rPr sz="2200" b="1" i="0">
                <a:solidFill>
                  <a:srgbClr val="1C2E37"/>
                </a:solidFill>
                <a:latin typeface="Calibri"/>
              </a:rPr>
              <a:t>Understand</a:t>
            </a:r>
          </a:p>
          <a:p>
            <a:pPr algn="l">
              <a:lnSpc>
                <a:spcPct val="110000"/>
              </a:lnSpc>
              <a:spcBef>
                <a:spcPts val="300"/>
              </a:spcBef>
            </a:pPr>
            <a:r>
              <a:rPr sz="1500" b="0" i="0">
                <a:solidFill>
                  <a:srgbClr val="4D5F68"/>
                </a:solidFill>
                <a:latin typeface="Calibri"/>
              </a:rPr>
              <a:t>Jot answers about exactly what it sees and drops a quick mark on the step that matters.</a:t>
            </a:r>
          </a:p>
        </p:txBody>
      </p:sp>
      <p:pic>
        <p:nvPicPr>
          <p:cNvPr id="27" name="Jot's tutor page with a shared worksheet and a spoken question" descr="Jot's tutor page with a shared worksheet and a spoken question"/>
          <p:cNvPicPr>
            <a:picLocks noChangeAspect="1"/>
          </p:cNvPicPr>
          <p:nvPr/>
        </p:nvPicPr>
        <p:blipFill>
          <a:blip r:embed="rId2"/>
          <a:stretch>
            <a:fillRect/>
          </a:stretch>
        </p:blipFill>
        <p:spPr>
          <a:xfrm>
            <a:off x="5989320" y="1874519"/>
            <a:ext cx="5760720" cy="327091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4431284"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4833620"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Teaching, not telling</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Every part of Jot is designed so the student still does the thinking.</a:t>
            </a:r>
          </a:p>
        </p:txBody>
      </p:sp>
      <p:sp>
        <p:nvSpPr>
          <p:cNvPr id="21" name="Icon badge"/>
          <p:cNvSpPr/>
          <p:nvPr/>
        </p:nvSpPr>
        <p:spPr>
          <a:xfrm rot="21240000">
            <a:off x="1188720" y="2103120"/>
            <a:ext cx="566928" cy="566928"/>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on-sparkles.png"/>
          <p:cNvPicPr>
            <a:picLocks noChangeAspect="1"/>
          </p:cNvPicPr>
          <p:nvPr/>
        </p:nvPicPr>
        <p:blipFill>
          <a:blip r:embed="rId2"/>
          <a:stretch>
            <a:fillRect/>
          </a:stretch>
        </p:blipFill>
        <p:spPr>
          <a:xfrm>
            <a:off x="1298448" y="2212848"/>
            <a:ext cx="347472" cy="347472"/>
          </a:xfrm>
          <a:prstGeom prst="rect">
            <a:avLst/>
          </a:prstGeom>
        </p:spPr>
      </p:pic>
      <p:sp>
        <p:nvSpPr>
          <p:cNvPr id="23" name="Hints before answers"/>
          <p:cNvSpPr txBox="1"/>
          <p:nvPr/>
        </p:nvSpPr>
        <p:spPr>
          <a:xfrm>
            <a:off x="1965960" y="2066544"/>
            <a:ext cx="4937760" cy="82296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Hints before answers</a:t>
            </a:r>
          </a:p>
          <a:p>
            <a:pPr algn="l">
              <a:lnSpc>
                <a:spcPct val="110000"/>
              </a:lnSpc>
              <a:spcBef>
                <a:spcPts val="200"/>
              </a:spcBef>
            </a:pPr>
            <a:r>
              <a:rPr sz="1500" b="0" i="0">
                <a:solidFill>
                  <a:srgbClr val="4D5F68"/>
                </a:solidFill>
                <a:latin typeface="Calibri"/>
              </a:rPr>
              <a:t>Jot starts with a question or a nudge, then lets the student take the next step.</a:t>
            </a:r>
          </a:p>
        </p:txBody>
      </p:sp>
      <p:sp>
        <p:nvSpPr>
          <p:cNvPr id="24" name="Icon badge"/>
          <p:cNvSpPr/>
          <p:nvPr/>
        </p:nvSpPr>
        <p:spPr>
          <a:xfrm rot="21240000">
            <a:off x="1188720" y="3182111"/>
            <a:ext cx="566928" cy="566928"/>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on-pencil.png"/>
          <p:cNvPicPr>
            <a:picLocks noChangeAspect="1"/>
          </p:cNvPicPr>
          <p:nvPr/>
        </p:nvPicPr>
        <p:blipFill>
          <a:blip r:embed="rId3"/>
          <a:stretch>
            <a:fillRect/>
          </a:stretch>
        </p:blipFill>
        <p:spPr>
          <a:xfrm>
            <a:off x="1298448" y="3291839"/>
            <a:ext cx="347472" cy="347472"/>
          </a:xfrm>
          <a:prstGeom prst="rect">
            <a:avLst/>
          </a:prstGeom>
        </p:spPr>
      </p:pic>
      <p:sp>
        <p:nvSpPr>
          <p:cNvPr id="26" name="Points at the exact step"/>
          <p:cNvSpPr txBox="1"/>
          <p:nvPr/>
        </p:nvSpPr>
        <p:spPr>
          <a:xfrm>
            <a:off x="1965960" y="3145535"/>
            <a:ext cx="4937760" cy="82296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Points at the exact step</a:t>
            </a:r>
          </a:p>
          <a:p>
            <a:pPr algn="l">
              <a:lnSpc>
                <a:spcPct val="110000"/>
              </a:lnSpc>
              <a:spcBef>
                <a:spcPts val="200"/>
              </a:spcBef>
            </a:pPr>
            <a:r>
              <a:rPr sz="1500" b="0" i="0">
                <a:solidFill>
                  <a:srgbClr val="4D5F68"/>
                </a:solidFill>
                <a:latin typeface="Calibri"/>
              </a:rPr>
              <a:t>A mark on the shared preview shows where the sign flipped or the step broke.</a:t>
            </a:r>
          </a:p>
        </p:txBody>
      </p:sp>
      <p:sp>
        <p:nvSpPr>
          <p:cNvPr id="27" name="Icon badge"/>
          <p:cNvSpPr/>
          <p:nvPr/>
        </p:nvSpPr>
        <p:spPr>
          <a:xfrm rot="21240000">
            <a:off x="1188720" y="4261104"/>
            <a:ext cx="566928" cy="566928"/>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n-check.png"/>
          <p:cNvPicPr>
            <a:picLocks noChangeAspect="1"/>
          </p:cNvPicPr>
          <p:nvPr/>
        </p:nvPicPr>
        <p:blipFill>
          <a:blip r:embed="rId4"/>
          <a:stretch>
            <a:fillRect/>
          </a:stretch>
        </p:blipFill>
        <p:spPr>
          <a:xfrm>
            <a:off x="1298448" y="4370832"/>
            <a:ext cx="347472" cy="347472"/>
          </a:xfrm>
          <a:prstGeom prst="rect">
            <a:avLst/>
          </a:prstGeom>
        </p:spPr>
      </p:pic>
      <p:sp>
        <p:nvSpPr>
          <p:cNvPr id="29" name="Check my steps"/>
          <p:cNvSpPr txBox="1"/>
          <p:nvPr/>
        </p:nvSpPr>
        <p:spPr>
          <a:xfrm>
            <a:off x="1965960" y="4224528"/>
            <a:ext cx="4937760" cy="82296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Check my steps</a:t>
            </a:r>
          </a:p>
          <a:p>
            <a:pPr algn="l">
              <a:lnSpc>
                <a:spcPct val="110000"/>
              </a:lnSpc>
              <a:spcBef>
                <a:spcPts val="200"/>
              </a:spcBef>
            </a:pPr>
            <a:r>
              <a:rPr sz="1500" b="0" i="0">
                <a:solidFill>
                  <a:srgbClr val="4D5F68"/>
                </a:solidFill>
                <a:latin typeface="Calibri"/>
              </a:rPr>
              <a:t>Follows along while the student works and speaks up only when something slips.</a:t>
            </a:r>
          </a:p>
        </p:txBody>
      </p:sp>
      <p:sp>
        <p:nvSpPr>
          <p:cNvPr id="30" name="Icon badge"/>
          <p:cNvSpPr/>
          <p:nvPr/>
        </p:nvSpPr>
        <p:spPr>
          <a:xfrm rot="21240000">
            <a:off x="1188720" y="5340096"/>
            <a:ext cx="566928" cy="566928"/>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on-book.png"/>
          <p:cNvPicPr>
            <a:picLocks noChangeAspect="1"/>
          </p:cNvPicPr>
          <p:nvPr/>
        </p:nvPicPr>
        <p:blipFill>
          <a:blip r:embed="rId5"/>
          <a:stretch>
            <a:fillRect/>
          </a:stretch>
        </p:blipFill>
        <p:spPr>
          <a:xfrm>
            <a:off x="1298448" y="5449824"/>
            <a:ext cx="347472" cy="347472"/>
          </a:xfrm>
          <a:prstGeom prst="rect">
            <a:avLst/>
          </a:prstGeom>
        </p:spPr>
      </p:pic>
      <p:sp>
        <p:nvSpPr>
          <p:cNvPr id="32" name="Honest about sources"/>
          <p:cNvSpPr txBox="1"/>
          <p:nvPr/>
        </p:nvSpPr>
        <p:spPr>
          <a:xfrm>
            <a:off x="1965960" y="5303520"/>
            <a:ext cx="4937760" cy="82296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Honest about sources</a:t>
            </a:r>
          </a:p>
          <a:p>
            <a:pPr algn="l">
              <a:lnSpc>
                <a:spcPct val="110000"/>
              </a:lnSpc>
              <a:spcBef>
                <a:spcPts val="200"/>
              </a:spcBef>
            </a:pPr>
            <a:r>
              <a:rPr sz="1500" b="0" i="0">
                <a:solidFill>
                  <a:srgbClr val="4D5F68"/>
                </a:solidFill>
                <a:latin typeface="Calibri"/>
              </a:rPr>
              <a:t>Uses the class's own notes first, and says when they don't cover something.</a:t>
            </a:r>
          </a:p>
        </p:txBody>
      </p:sp>
      <p:pic>
        <p:nvPicPr>
          <p:cNvPr id="33" name="A chat where the student asks for the answer and Jot replies with a hint" descr="A chat where the student asks for the answer and Jot replies with a hint"/>
          <p:cNvPicPr>
            <a:picLocks noChangeAspect="1"/>
          </p:cNvPicPr>
          <p:nvPr/>
        </p:nvPicPr>
        <p:blipFill>
          <a:blip r:embed="rId6"/>
          <a:stretch>
            <a:fillRect/>
          </a:stretch>
        </p:blipFill>
        <p:spPr>
          <a:xfrm>
            <a:off x="6446520" y="2011680"/>
            <a:ext cx="5486400" cy="2510725"/>
          </a:xfrm>
          <a:prstGeom prst="rect">
            <a:avLst/>
          </a:prstGeom>
        </p:spPr>
      </p:pic>
      <p:pic>
        <p:nvPicPr>
          <p:cNvPr id="34" name="Jot celebrating" descr="Jot celebrating"/>
          <p:cNvPicPr>
            <a:picLocks noChangeAspect="1"/>
          </p:cNvPicPr>
          <p:nvPr/>
        </p:nvPicPr>
        <p:blipFill>
          <a:blip r:embed="rId7"/>
          <a:stretch>
            <a:fillRect/>
          </a:stretch>
        </p:blipFill>
        <p:spPr>
          <a:xfrm>
            <a:off x="10424160" y="4892040"/>
            <a:ext cx="1737360" cy="1737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3251708"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3654044"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See it in action</a:t>
            </a:r>
          </a:p>
        </p:txBody>
      </p:sp>
      <p:sp>
        <p:nvSpPr>
          <p:cNvPr id="20" name="Video frame"/>
          <p:cNvSpPr/>
          <p:nvPr/>
        </p:nvSpPr>
        <p:spPr>
          <a:xfrm>
            <a:off x="1078992" y="1307592"/>
            <a:ext cx="8083296" cy="4642866"/>
          </a:xfrm>
          <a:prstGeom prst="roundRect">
            <a:avLst>
              <a:gd name="adj" fmla="val 3000"/>
            </a:avLst>
          </a:prstGeom>
          <a:solidFill>
            <a:srgbClr val="FFFDF7"/>
          </a:solidFill>
          <a:ln>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Jot demo 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188720" y="1417320"/>
            <a:ext cx="7863840" cy="4423410"/>
          </a:xfrm>
          <a:prstGeom prst="rect">
            <a:avLst/>
          </a:prstGeom>
        </p:spPr>
      </p:pic>
      <p:sp>
        <p:nvSpPr>
          <p:cNvPr id="22" name="Play hint"/>
          <p:cNvSpPr txBox="1"/>
          <p:nvPr/>
        </p:nvSpPr>
        <p:spPr>
          <a:xfrm>
            <a:off x="1188720" y="6115050"/>
            <a:ext cx="7863840" cy="365760"/>
          </a:xfrm>
          <a:prstGeom prst="rect">
            <a:avLst/>
          </a:prstGeom>
          <a:noFill/>
        </p:spPr>
        <p:txBody>
          <a:bodyPr wrap="square" lIns="0" rIns="0" tIns="0" bIns="0" anchor="t">
            <a:spAutoFit/>
          </a:bodyPr>
          <a:lstStyle/>
          <a:p>
            <a:pPr algn="l">
              <a:lnSpc>
                <a:spcPct val="110000"/>
              </a:lnSpc>
            </a:pPr>
            <a:r>
              <a:rPr sz="1400" b="0" i="0">
                <a:solidFill>
                  <a:srgbClr val="4D5F68"/>
                </a:solidFill>
                <a:latin typeface="Calibri"/>
              </a:rPr>
              <a:t>Click the video to play. 1:40, narrated by Jot.</a:t>
            </a:r>
          </a:p>
        </p:txBody>
      </p:sp>
      <p:sp>
        <p:nvSpPr>
          <p:cNvPr id="23" name="Chapters heading"/>
          <p:cNvSpPr txBox="1"/>
          <p:nvPr/>
        </p:nvSpPr>
        <p:spPr>
          <a:xfrm>
            <a:off x="9555480" y="1417320"/>
            <a:ext cx="2377440" cy="365760"/>
          </a:xfrm>
          <a:prstGeom prst="rect">
            <a:avLst/>
          </a:prstGeom>
          <a:noFill/>
        </p:spPr>
        <p:txBody>
          <a:bodyPr wrap="square" lIns="0" rIns="0" tIns="0" bIns="0" anchor="t">
            <a:spAutoFit/>
          </a:bodyPr>
          <a:lstStyle/>
          <a:p>
            <a:pPr algn="l">
              <a:lnSpc>
                <a:spcPct val="110000"/>
              </a:lnSpc>
            </a:pPr>
            <a:r>
              <a:rPr sz="2000" b="1" i="0">
                <a:solidFill>
                  <a:srgbClr val="1C2E37"/>
                </a:solidFill>
                <a:latin typeface="Calibri"/>
              </a:rPr>
              <a:t>Chapters</a:t>
            </a:r>
          </a:p>
        </p:txBody>
      </p:sp>
      <p:sp>
        <p:nvSpPr>
          <p:cNvPr id="24" name="Chapters"/>
          <p:cNvSpPr txBox="1"/>
          <p:nvPr/>
        </p:nvSpPr>
        <p:spPr>
          <a:xfrm>
            <a:off x="9555480" y="1920240"/>
            <a:ext cx="2468880" cy="4206240"/>
          </a:xfrm>
          <a:prstGeom prst="rect">
            <a:avLst/>
          </a:prstGeom>
          <a:noFill/>
        </p:spPr>
        <p:txBody>
          <a:bodyPr wrap="square" lIns="0" rIns="0" tIns="0" bIns="0" anchor="t">
            <a:spAutoFit/>
          </a:bodyPr>
          <a:lstStyle/>
          <a:p>
            <a:pPr algn="l">
              <a:lnSpc>
                <a:spcPct val="110000"/>
              </a:lnSpc>
            </a:pPr>
            <a:r>
              <a:rPr sz="1400" b="1" i="0">
                <a:solidFill>
                  <a:srgbClr val="3F6577"/>
                </a:solidFill>
                <a:latin typeface="Calibri"/>
              </a:rPr>
              <a:t>0:00   </a:t>
            </a:r>
            <a:r>
              <a:rPr sz="1400" b="0" i="0">
                <a:solidFill>
                  <a:srgbClr val="1C2E37"/>
                </a:solidFill>
                <a:latin typeface="Calibri"/>
              </a:rPr>
              <a:t>Meet Jot</a:t>
            </a:r>
          </a:p>
          <a:p>
            <a:pPr algn="l">
              <a:lnSpc>
                <a:spcPct val="110000"/>
              </a:lnSpc>
              <a:spcBef>
                <a:spcPts val="500"/>
              </a:spcBef>
            </a:pPr>
            <a:r>
              <a:rPr sz="1400" b="1" i="0">
                <a:solidFill>
                  <a:srgbClr val="3F6577"/>
                </a:solidFill>
                <a:latin typeface="Calibri"/>
              </a:rPr>
              <a:t>0:06   </a:t>
            </a:r>
            <a:r>
              <a:rPr sz="1400" b="0" i="0">
                <a:solidFill>
                  <a:srgbClr val="1C2E37"/>
                </a:solidFill>
                <a:latin typeface="Calibri"/>
              </a:rPr>
              <a:t>The problem</a:t>
            </a:r>
          </a:p>
          <a:p>
            <a:pPr algn="l">
              <a:lnSpc>
                <a:spcPct val="110000"/>
              </a:lnSpc>
              <a:spcBef>
                <a:spcPts val="500"/>
              </a:spcBef>
            </a:pPr>
            <a:r>
              <a:rPr sz="1400" b="1" i="0">
                <a:solidFill>
                  <a:srgbClr val="3F6577"/>
                </a:solidFill>
                <a:latin typeface="Calibri"/>
              </a:rPr>
              <a:t>0:14   </a:t>
            </a:r>
            <a:r>
              <a:rPr sz="1400" b="0" i="0">
                <a:solidFill>
                  <a:srgbClr val="1C2E37"/>
                </a:solidFill>
                <a:latin typeface="Calibri"/>
              </a:rPr>
              <a:t>Share and ask</a:t>
            </a:r>
          </a:p>
          <a:p>
            <a:pPr algn="l">
              <a:lnSpc>
                <a:spcPct val="110000"/>
              </a:lnSpc>
              <a:spcBef>
                <a:spcPts val="500"/>
              </a:spcBef>
            </a:pPr>
            <a:r>
              <a:rPr sz="1400" b="1" i="0">
                <a:solidFill>
                  <a:srgbClr val="3F6577"/>
                </a:solidFill>
                <a:latin typeface="Calibri"/>
              </a:rPr>
              <a:t>0:23   </a:t>
            </a:r>
            <a:r>
              <a:rPr sz="1400" b="0" i="0">
                <a:solidFill>
                  <a:srgbClr val="1C2E37"/>
                </a:solidFill>
                <a:latin typeface="Calibri"/>
              </a:rPr>
              <a:t>Marks on your work</a:t>
            </a:r>
          </a:p>
          <a:p>
            <a:pPr algn="l">
              <a:lnSpc>
                <a:spcPct val="110000"/>
              </a:lnSpc>
              <a:spcBef>
                <a:spcPts val="500"/>
              </a:spcBef>
            </a:pPr>
            <a:r>
              <a:rPr sz="1400" b="1" i="0">
                <a:solidFill>
                  <a:srgbClr val="3F6577"/>
                </a:solidFill>
                <a:latin typeface="Calibri"/>
              </a:rPr>
              <a:t>0:31   </a:t>
            </a:r>
            <a:r>
              <a:rPr sz="1400" b="0" i="0">
                <a:solidFill>
                  <a:srgbClr val="1C2E37"/>
                </a:solidFill>
                <a:latin typeface="Calibri"/>
              </a:rPr>
              <a:t>Hints before answers</a:t>
            </a:r>
          </a:p>
          <a:p>
            <a:pPr algn="l">
              <a:lnSpc>
                <a:spcPct val="110000"/>
              </a:lnSpc>
              <a:spcBef>
                <a:spcPts val="500"/>
              </a:spcBef>
            </a:pPr>
            <a:r>
              <a:rPr sz="1400" b="1" i="0">
                <a:solidFill>
                  <a:srgbClr val="3F6577"/>
                </a:solidFill>
                <a:latin typeface="Calibri"/>
              </a:rPr>
              <a:t>0:37   </a:t>
            </a:r>
            <a:r>
              <a:rPr sz="1400" b="0" i="0">
                <a:solidFill>
                  <a:srgbClr val="1C2E37"/>
                </a:solidFill>
                <a:latin typeface="Calibri"/>
              </a:rPr>
              <a:t>Classes and uploads</a:t>
            </a:r>
          </a:p>
          <a:p>
            <a:pPr algn="l">
              <a:lnSpc>
                <a:spcPct val="110000"/>
              </a:lnSpc>
              <a:spcBef>
                <a:spcPts val="500"/>
              </a:spcBef>
            </a:pPr>
            <a:r>
              <a:rPr sz="1400" b="1" i="0">
                <a:solidFill>
                  <a:srgbClr val="3F6577"/>
                </a:solidFill>
                <a:latin typeface="Calibri"/>
              </a:rPr>
              <a:t>0:46   </a:t>
            </a:r>
            <a:r>
              <a:rPr sz="1400" b="0" i="0">
                <a:solidFill>
                  <a:srgbClr val="1C2E37"/>
                </a:solidFill>
                <a:latin typeface="Calibri"/>
              </a:rPr>
              <a:t>Study sets</a:t>
            </a:r>
          </a:p>
          <a:p>
            <a:pPr algn="l">
              <a:lnSpc>
                <a:spcPct val="110000"/>
              </a:lnSpc>
              <a:spcBef>
                <a:spcPts val="500"/>
              </a:spcBef>
            </a:pPr>
            <a:r>
              <a:rPr sz="1400" b="1" i="0">
                <a:solidFill>
                  <a:srgbClr val="3F6577"/>
                </a:solidFill>
                <a:latin typeface="Calibri"/>
              </a:rPr>
              <a:t>0:54   </a:t>
            </a:r>
            <a:r>
              <a:rPr sz="1400" b="0" i="0">
                <a:solidFill>
                  <a:srgbClr val="1C2E37"/>
                </a:solidFill>
                <a:latin typeface="Calibri"/>
              </a:rPr>
              <a:t>PDFs on the stage</a:t>
            </a:r>
          </a:p>
          <a:p>
            <a:pPr algn="l">
              <a:lnSpc>
                <a:spcPct val="110000"/>
              </a:lnSpc>
              <a:spcBef>
                <a:spcPts val="500"/>
              </a:spcBef>
            </a:pPr>
            <a:r>
              <a:rPr sz="1400" b="1" i="0">
                <a:solidFill>
                  <a:srgbClr val="3F6577"/>
                </a:solidFill>
                <a:latin typeface="Calibri"/>
              </a:rPr>
              <a:t>1:04   </a:t>
            </a:r>
            <a:r>
              <a:rPr sz="1400" b="0" i="0">
                <a:solidFill>
                  <a:srgbClr val="1C2E37"/>
                </a:solidFill>
                <a:latin typeface="Calibri"/>
              </a:rPr>
              <a:t>Check my steps</a:t>
            </a:r>
          </a:p>
          <a:p>
            <a:pPr algn="l">
              <a:lnSpc>
                <a:spcPct val="110000"/>
              </a:lnSpc>
              <a:spcBef>
                <a:spcPts val="500"/>
              </a:spcBef>
            </a:pPr>
            <a:r>
              <a:rPr sz="1400" b="1" i="0">
                <a:solidFill>
                  <a:srgbClr val="3F6577"/>
                </a:solidFill>
                <a:latin typeface="Calibri"/>
              </a:rPr>
              <a:t>1:13   </a:t>
            </a:r>
            <a:r>
              <a:rPr sz="1400" b="0" i="0">
                <a:solidFill>
                  <a:srgbClr val="1C2E37"/>
                </a:solidFill>
                <a:latin typeface="Calibri"/>
              </a:rPr>
              <a:t>Privacy</a:t>
            </a:r>
          </a:p>
          <a:p>
            <a:pPr algn="l">
              <a:lnSpc>
                <a:spcPct val="110000"/>
              </a:lnSpc>
              <a:spcBef>
                <a:spcPts val="500"/>
              </a:spcBef>
            </a:pPr>
            <a:r>
              <a:rPr sz="1400" b="1" i="0">
                <a:solidFill>
                  <a:srgbClr val="3F6577"/>
                </a:solidFill>
                <a:latin typeface="Calibri"/>
              </a:rPr>
              <a:t>1:22   </a:t>
            </a:r>
            <a:r>
              <a:rPr sz="1400" b="0" i="0">
                <a:solidFill>
                  <a:srgbClr val="1C2E37"/>
                </a:solidFill>
                <a:latin typeface="Calibri"/>
              </a:rPr>
              <a:t>How it works</a:t>
            </a:r>
          </a:p>
          <a:p>
            <a:pPr algn="l">
              <a:lnSpc>
                <a:spcPct val="110000"/>
              </a:lnSpc>
              <a:spcBef>
                <a:spcPts val="500"/>
              </a:spcBef>
            </a:pPr>
            <a:r>
              <a:rPr sz="1400" b="1" i="0">
                <a:solidFill>
                  <a:srgbClr val="3F6577"/>
                </a:solidFill>
                <a:latin typeface="Calibri"/>
              </a:rPr>
              <a:t>1:30   </a:t>
            </a:r>
            <a:r>
              <a:rPr sz="1400" b="0" i="0">
                <a:solidFill>
                  <a:srgbClr val="1C2E37"/>
                </a:solidFill>
                <a:latin typeface="Calibri"/>
              </a:rPr>
              <a:t>Wrap-up</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21"/>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8567420"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8969756"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Built around the student's actual course</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Each class is a notebook: its uploads become the tutor's context and the student's study sets.</a:t>
            </a:r>
          </a:p>
        </p:txBody>
      </p:sp>
      <p:pic>
        <p:nvPicPr>
          <p:cNvPr id="21" name="Class cards for Calculus I, Biology, and World History" descr="Class cards for Calculus I, Biology, and World History"/>
          <p:cNvPicPr>
            <a:picLocks noChangeAspect="1"/>
          </p:cNvPicPr>
          <p:nvPr/>
        </p:nvPicPr>
        <p:blipFill>
          <a:blip r:embed="rId2"/>
          <a:stretch>
            <a:fillRect/>
          </a:stretch>
        </p:blipFill>
        <p:spPr>
          <a:xfrm>
            <a:off x="1051560" y="2148840"/>
            <a:ext cx="5486400" cy="1592826"/>
          </a:xfrm>
          <a:prstGeom prst="rect">
            <a:avLst/>
          </a:prstGeom>
        </p:spPr>
      </p:pic>
      <p:sp>
        <p:nvSpPr>
          <p:cNvPr id="22" name="Uploads"/>
          <p:cNvSpPr txBox="1"/>
          <p:nvPr/>
        </p:nvSpPr>
        <p:spPr>
          <a:xfrm>
            <a:off x="1188720" y="4206240"/>
            <a:ext cx="5029200" cy="146304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Upload anything from the course</a:t>
            </a:r>
          </a:p>
          <a:p>
            <a:pPr algn="l">
              <a:lnSpc>
                <a:spcPct val="110000"/>
              </a:lnSpc>
              <a:spcBef>
                <a:spcPts val="300"/>
              </a:spcBef>
            </a:pPr>
            <a:r>
              <a:rPr sz="1500" b="0" i="0">
                <a:solidFill>
                  <a:srgbClr val="4D5F68"/>
                </a:solidFill>
                <a:latin typeface="Calibri"/>
              </a:rPr>
              <a:t>Notes, documents, syllabi, lecture slides, past tests, and lecture recordings. Jot extracts the text and transcribes lectures.</a:t>
            </a:r>
          </a:p>
        </p:txBody>
      </p:sp>
      <p:pic>
        <p:nvPicPr>
          <p:cNvPr id="23" name="Generated quiz, flashcard, practice exam, and study guide" descr="Generated quiz, flashcard, practice exam, and study guide"/>
          <p:cNvPicPr>
            <a:picLocks noChangeAspect="1"/>
          </p:cNvPicPr>
          <p:nvPr/>
        </p:nvPicPr>
        <p:blipFill>
          <a:blip r:embed="rId3"/>
          <a:stretch>
            <a:fillRect/>
          </a:stretch>
        </p:blipFill>
        <p:spPr>
          <a:xfrm>
            <a:off x="6446520" y="1828800"/>
            <a:ext cx="5577840" cy="2588118"/>
          </a:xfrm>
          <a:prstGeom prst="rect">
            <a:avLst/>
          </a:prstGeom>
        </p:spPr>
      </p:pic>
      <p:sp>
        <p:nvSpPr>
          <p:cNvPr id="24" name="Study sets"/>
          <p:cNvSpPr txBox="1"/>
          <p:nvPr/>
        </p:nvSpPr>
        <p:spPr>
          <a:xfrm>
            <a:off x="6629400" y="4572000"/>
            <a:ext cx="5120640" cy="146304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Study sets from the student's own notes</a:t>
            </a:r>
          </a:p>
          <a:p>
            <a:pPr algn="l">
              <a:lnSpc>
                <a:spcPct val="110000"/>
              </a:lnSpc>
              <a:spcBef>
                <a:spcPts val="300"/>
              </a:spcBef>
            </a:pPr>
            <a:r>
              <a:rPr sz="1500" b="0" i="0">
                <a:solidFill>
                  <a:srgbClr val="4D5F68"/>
                </a:solidFill>
                <a:latin typeface="Calibri"/>
              </a:rPr>
              <a:t>Quizzes, flashcards, practice exams, and study guides, each question linked back to the upload it came from.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6849363"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7251699"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Practice right where the work is</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Open a class PDF on the stage, or let Jot follow along as you solve.</a:t>
            </a:r>
          </a:p>
        </p:txBody>
      </p:sp>
      <p:pic>
        <p:nvPicPr>
          <p:cNvPr id="21" name="A PDF reading open on Jot's stage with a mark on the heading" descr="A PDF reading open on Jot's stage with a mark on the heading"/>
          <p:cNvPicPr>
            <a:picLocks noChangeAspect="1"/>
          </p:cNvPicPr>
          <p:nvPr/>
        </p:nvPicPr>
        <p:blipFill>
          <a:blip r:embed="rId2"/>
          <a:stretch>
            <a:fillRect/>
          </a:stretch>
        </p:blipFill>
        <p:spPr>
          <a:xfrm>
            <a:off x="1143000" y="1874519"/>
            <a:ext cx="5257800" cy="3163592"/>
          </a:xfrm>
          <a:prstGeom prst="rect">
            <a:avLst/>
          </a:prstGeom>
        </p:spPr>
      </p:pic>
      <p:pic>
        <p:nvPicPr>
          <p:cNvPr id="22" name="Check my steps catching a distribution mistake" descr="Check my steps catching a distribution mistake"/>
          <p:cNvPicPr>
            <a:picLocks noChangeAspect="1"/>
          </p:cNvPicPr>
          <p:nvPr/>
        </p:nvPicPr>
        <p:blipFill>
          <a:blip r:embed="rId3"/>
          <a:stretch>
            <a:fillRect/>
          </a:stretch>
        </p:blipFill>
        <p:spPr>
          <a:xfrm>
            <a:off x="6675120" y="1920240"/>
            <a:ext cx="5212080" cy="1858571"/>
          </a:xfrm>
          <a:prstGeom prst="rect">
            <a:avLst/>
          </a:prstGeom>
        </p:spPr>
      </p:pic>
      <p:sp>
        <p:nvSpPr>
          <p:cNvPr id="23" name="Coaching"/>
          <p:cNvSpPr txBox="1"/>
          <p:nvPr/>
        </p:nvSpPr>
        <p:spPr>
          <a:xfrm>
            <a:off x="6766560" y="4023360"/>
            <a:ext cx="4937760" cy="237744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Check my steps</a:t>
            </a:r>
          </a:p>
          <a:p>
            <a:pPr algn="l">
              <a:lnSpc>
                <a:spcPct val="110000"/>
              </a:lnSpc>
              <a:spcBef>
                <a:spcPts val="300"/>
              </a:spcBef>
            </a:pPr>
            <a:r>
              <a:rPr sz="1500" b="0" i="0">
                <a:solidFill>
                  <a:srgbClr val="4D5F68"/>
                </a:solidFill>
                <a:latin typeface="Calibri"/>
              </a:rPr>
              <a:t>Jot watches the work and gives one short hint when a step slips, then lets the student fix it.</a:t>
            </a:r>
          </a:p>
          <a:p>
            <a:pPr algn="l">
              <a:lnSpc>
                <a:spcPct val="110000"/>
              </a:lnSpc>
              <a:spcBef>
                <a:spcPts val="1400"/>
              </a:spcBef>
            </a:pPr>
            <a:r>
              <a:rPr sz="1900" b="1" i="0">
                <a:solidFill>
                  <a:srgbClr val="1C2E37"/>
                </a:solidFill>
                <a:latin typeface="Calibri"/>
              </a:rPr>
              <a:t>Language lock</a:t>
            </a:r>
          </a:p>
          <a:p>
            <a:pPr algn="l">
              <a:lnSpc>
                <a:spcPct val="110000"/>
              </a:lnSpc>
              <a:spcBef>
                <a:spcPts val="300"/>
              </a:spcBef>
            </a:pPr>
            <a:r>
              <a:rPr sz="1500" b="0" i="0">
                <a:solidFill>
                  <a:srgbClr val="4D5F68"/>
                </a:solidFill>
                <a:latin typeface="Calibri"/>
              </a:rPr>
              <a:t>Keeps Jot speaking and writing in one of 11 languages, even when the materials are in another.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2812288"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3214624"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Who it helps</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Designed for the moments when students usually get stuck alone.</a:t>
            </a:r>
          </a:p>
        </p:txBody>
      </p:sp>
      <p:sp>
        <p:nvSpPr>
          <p:cNvPr id="21" name="Card: Stuck at 11 p.m."/>
          <p:cNvSpPr/>
          <p:nvPr/>
        </p:nvSpPr>
        <p:spPr>
          <a:xfrm rot="21540000">
            <a:off x="1188720" y="2103120"/>
            <a:ext cx="4343400" cy="178308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28600"/>
          <a:lstStyle/>
          <a:p>
            <a:pPr algn="l"/>
            <a:r>
              <a:rPr sz="2100" b="1">
                <a:solidFill>
                  <a:srgbClr val="1C2E37"/>
                </a:solidFill>
                <a:latin typeface="Calibri"/>
              </a:rPr>
              <a:t>Stuck at 11 p.m.</a:t>
            </a:r>
          </a:p>
          <a:p>
            <a:pPr algn="l">
              <a:lnSpc>
                <a:spcPct val="110000"/>
              </a:lnSpc>
              <a:spcBef>
                <a:spcPts val="600"/>
              </a:spcBef>
            </a:pPr>
            <a:r>
              <a:rPr sz="1500">
                <a:solidFill>
                  <a:srgbClr val="4D5F68"/>
                </a:solidFill>
                <a:latin typeface="Calibri"/>
              </a:rPr>
              <a:t>Office hours are closed. Jot sees the actual problem and guides the next step.</a:t>
            </a:r>
          </a:p>
        </p:txBody>
      </p:sp>
      <p:pic>
        <p:nvPicPr>
          <p:cNvPr id="22" name="Picture 21" descr="icon-monitor.png"/>
          <p:cNvPicPr>
            <a:picLocks noChangeAspect="1"/>
          </p:cNvPicPr>
          <p:nvPr/>
        </p:nvPicPr>
        <p:blipFill>
          <a:blip r:embed="rId2"/>
          <a:stretch>
            <a:fillRect/>
          </a:stretch>
        </p:blipFill>
        <p:spPr>
          <a:xfrm>
            <a:off x="4892040" y="2359152"/>
            <a:ext cx="384048" cy="384048"/>
          </a:xfrm>
          <a:prstGeom prst="rect">
            <a:avLst/>
          </a:prstGeom>
        </p:spPr>
      </p:pic>
      <p:sp>
        <p:nvSpPr>
          <p:cNvPr id="23" name="Card: Studying for the exam"/>
          <p:cNvSpPr/>
          <p:nvPr/>
        </p:nvSpPr>
        <p:spPr>
          <a:xfrm rot="54000">
            <a:off x="5806440" y="2103120"/>
            <a:ext cx="4343400" cy="178308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28600"/>
          <a:lstStyle/>
          <a:p>
            <a:pPr algn="l"/>
            <a:r>
              <a:rPr sz="2100" b="1">
                <a:solidFill>
                  <a:srgbClr val="1C2E37"/>
                </a:solidFill>
                <a:latin typeface="Calibri"/>
              </a:rPr>
              <a:t>Studying for the exam</a:t>
            </a:r>
          </a:p>
          <a:p>
            <a:pPr algn="l">
              <a:lnSpc>
                <a:spcPct val="110000"/>
              </a:lnSpc>
              <a:spcBef>
                <a:spcPts val="600"/>
              </a:spcBef>
            </a:pPr>
            <a:r>
              <a:rPr sz="1500">
                <a:solidFill>
                  <a:srgbClr val="4D5F68"/>
                </a:solidFill>
                <a:latin typeface="Calibri"/>
              </a:rPr>
              <a:t>Practice sets built from the student's own course materials, with sources.</a:t>
            </a:r>
          </a:p>
        </p:txBody>
      </p:sp>
      <p:pic>
        <p:nvPicPr>
          <p:cNvPr id="24" name="Picture 23" descr="icon-exam.png"/>
          <p:cNvPicPr>
            <a:picLocks noChangeAspect="1"/>
          </p:cNvPicPr>
          <p:nvPr/>
        </p:nvPicPr>
        <p:blipFill>
          <a:blip r:embed="rId3"/>
          <a:stretch>
            <a:fillRect/>
          </a:stretch>
        </p:blipFill>
        <p:spPr>
          <a:xfrm>
            <a:off x="9509760" y="2359152"/>
            <a:ext cx="384048" cy="384048"/>
          </a:xfrm>
          <a:prstGeom prst="rect">
            <a:avLst/>
          </a:prstGeom>
        </p:spPr>
      </p:pic>
      <p:sp>
        <p:nvSpPr>
          <p:cNvPr id="25" name="Card: Multilingual learners"/>
          <p:cNvSpPr/>
          <p:nvPr/>
        </p:nvSpPr>
        <p:spPr>
          <a:xfrm rot="42000">
            <a:off x="1188720" y="4160520"/>
            <a:ext cx="4343400" cy="178308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28600"/>
          <a:lstStyle/>
          <a:p>
            <a:pPr algn="l"/>
            <a:r>
              <a:rPr sz="2100" b="1">
                <a:solidFill>
                  <a:srgbClr val="1C2E37"/>
                </a:solidFill>
                <a:latin typeface="Calibri"/>
              </a:rPr>
              <a:t>Multilingual learners</a:t>
            </a:r>
          </a:p>
          <a:p>
            <a:pPr algn="l">
              <a:lnSpc>
                <a:spcPct val="110000"/>
              </a:lnSpc>
              <a:spcBef>
                <a:spcPts val="600"/>
              </a:spcBef>
            </a:pPr>
            <a:r>
              <a:rPr sz="1500">
                <a:solidFill>
                  <a:srgbClr val="4D5F68"/>
                </a:solidFill>
                <a:latin typeface="Calibri"/>
              </a:rPr>
              <a:t>Language lock keeps the tutor in the student's language, whatever the materials use.</a:t>
            </a:r>
          </a:p>
        </p:txBody>
      </p:sp>
      <p:pic>
        <p:nvPicPr>
          <p:cNvPr id="26" name="Picture 25" descr="icon-globe.png"/>
          <p:cNvPicPr>
            <a:picLocks noChangeAspect="1"/>
          </p:cNvPicPr>
          <p:nvPr/>
        </p:nvPicPr>
        <p:blipFill>
          <a:blip r:embed="rId4"/>
          <a:stretch>
            <a:fillRect/>
          </a:stretch>
        </p:blipFill>
        <p:spPr>
          <a:xfrm>
            <a:off x="4892040" y="4416552"/>
            <a:ext cx="384048" cy="384048"/>
          </a:xfrm>
          <a:prstGeom prst="rect">
            <a:avLst/>
          </a:prstGeom>
        </p:spPr>
      </p:pic>
      <p:sp>
        <p:nvSpPr>
          <p:cNvPr id="27" name="Card: Learning by talking"/>
          <p:cNvSpPr/>
          <p:nvPr/>
        </p:nvSpPr>
        <p:spPr>
          <a:xfrm rot="21552000">
            <a:off x="5806440" y="4160520"/>
            <a:ext cx="4343400" cy="178308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28600"/>
          <a:lstStyle/>
          <a:p>
            <a:pPr algn="l"/>
            <a:r>
              <a:rPr sz="2100" b="1">
                <a:solidFill>
                  <a:srgbClr val="1C2E37"/>
                </a:solidFill>
                <a:latin typeface="Calibri"/>
              </a:rPr>
              <a:t>Learning by talking</a:t>
            </a:r>
          </a:p>
          <a:p>
            <a:pPr algn="l">
              <a:lnSpc>
                <a:spcPct val="110000"/>
              </a:lnSpc>
              <a:spcBef>
                <a:spcPts val="600"/>
              </a:spcBef>
            </a:pPr>
            <a:r>
              <a:rPr sz="1500">
                <a:solidFill>
                  <a:srgbClr val="4D5F68"/>
                </a:solidFill>
                <a:latin typeface="Calibri"/>
              </a:rPr>
              <a:t>Explaining out loud is how students find gaps. Jot listens and can be interrupted.</a:t>
            </a:r>
          </a:p>
        </p:txBody>
      </p:sp>
      <p:pic>
        <p:nvPicPr>
          <p:cNvPr id="28" name="Picture 27" descr="icon-mic.png"/>
          <p:cNvPicPr>
            <a:picLocks noChangeAspect="1"/>
          </p:cNvPicPr>
          <p:nvPr/>
        </p:nvPicPr>
        <p:blipFill>
          <a:blip r:embed="rId5"/>
          <a:stretch>
            <a:fillRect/>
          </a:stretch>
        </p:blipFill>
        <p:spPr>
          <a:xfrm>
            <a:off x="9509760" y="4416552"/>
            <a:ext cx="384048" cy="384048"/>
          </a:xfrm>
          <a:prstGeom prst="rect">
            <a:avLst/>
          </a:prstGeom>
        </p:spPr>
      </p:pic>
      <p:pic>
        <p:nvPicPr>
          <p:cNvPr id="29" name="Jot looking proud" descr="Jot looking proud"/>
          <p:cNvPicPr>
            <a:picLocks noChangeAspect="1"/>
          </p:cNvPicPr>
          <p:nvPr/>
        </p:nvPicPr>
        <p:blipFill>
          <a:blip r:embed="rId6"/>
          <a:stretch>
            <a:fillRect/>
          </a:stretch>
        </p:blipFill>
        <p:spPr>
          <a:xfrm>
            <a:off x="10058400" y="3840480"/>
            <a:ext cx="2377440" cy="23774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3166364"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3568700"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Safe by design</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Students stay in control of what Jot sees and does.</a:t>
            </a:r>
          </a:p>
        </p:txBody>
      </p:sp>
      <p:pic>
        <p:nvPicPr>
          <p:cNvPr id="21" name="Checklist: only what you share, never recorded, never clicks or types" descr="Checklist: only what you share, never recorded, never clicks or types"/>
          <p:cNvPicPr>
            <a:picLocks noChangeAspect="1"/>
          </p:cNvPicPr>
          <p:nvPr/>
        </p:nvPicPr>
        <p:blipFill>
          <a:blip r:embed="rId2"/>
          <a:stretch>
            <a:fillRect/>
          </a:stretch>
        </p:blipFill>
        <p:spPr>
          <a:xfrm>
            <a:off x="1097280" y="2011680"/>
            <a:ext cx="6400800" cy="2549471"/>
          </a:xfrm>
          <a:prstGeom prst="rect">
            <a:avLst/>
          </a:prstGeom>
        </p:spPr>
      </p:pic>
      <p:sp>
        <p:nvSpPr>
          <p:cNvPr id="22" name="Safety details"/>
          <p:cNvSpPr txBox="1"/>
          <p:nvPr/>
        </p:nvSpPr>
        <p:spPr>
          <a:xfrm>
            <a:off x="7909560" y="2148840"/>
            <a:ext cx="3566160" cy="3474720"/>
          </a:xfrm>
          <a:prstGeom prst="rect">
            <a:avLst/>
          </a:prstGeom>
          <a:noFill/>
        </p:spPr>
        <p:txBody>
          <a:bodyPr wrap="square" lIns="0" rIns="0" tIns="0" bIns="0" anchor="t">
            <a:spAutoFit/>
          </a:bodyPr>
          <a:lstStyle/>
          <a:p>
            <a:pPr algn="l">
              <a:lnSpc>
                <a:spcPct val="110000"/>
              </a:lnSpc>
            </a:pPr>
            <a:r>
              <a:rPr sz="1900" b="1" i="0">
                <a:solidFill>
                  <a:srgbClr val="1C2E37"/>
                </a:solidFill>
                <a:latin typeface="Calibri"/>
              </a:rPr>
              <a:t>It can only point</a:t>
            </a:r>
          </a:p>
          <a:p>
            <a:pPr algn="l">
              <a:lnSpc>
                <a:spcPct val="110000"/>
              </a:lnSpc>
              <a:spcBef>
                <a:spcPts val="300"/>
              </a:spcBef>
            </a:pPr>
            <a:r>
              <a:rPr sz="1500" b="0" i="0">
                <a:solidFill>
                  <a:srgbClr val="4D5F68"/>
                </a:solidFill>
                <a:latin typeface="Calibri"/>
              </a:rPr>
              <a:t>The model's one visual action is a temporary mark. No mouse, keyboard, or app control.</a:t>
            </a:r>
          </a:p>
          <a:p>
            <a:pPr algn="l">
              <a:lnSpc>
                <a:spcPct val="110000"/>
              </a:lnSpc>
              <a:spcBef>
                <a:spcPts val="1400"/>
              </a:spcBef>
            </a:pPr>
            <a:r>
              <a:rPr sz="1900" b="1" i="0">
                <a:solidFill>
                  <a:srgbClr val="1C2E37"/>
                </a:solidFill>
                <a:latin typeface="Calibri"/>
              </a:rPr>
              <a:t>Live media stays in memory</a:t>
            </a:r>
          </a:p>
          <a:p>
            <a:pPr algn="l">
              <a:lnSpc>
                <a:spcPct val="110000"/>
              </a:lnSpc>
              <a:spcBef>
                <a:spcPts val="300"/>
              </a:spcBef>
            </a:pPr>
            <a:r>
              <a:rPr sz="1500" b="0" i="0">
                <a:solidFill>
                  <a:srgbClr val="4D5F68"/>
                </a:solidFill>
                <a:latin typeface="Calibri"/>
              </a:rPr>
              <a:t>Screen frames and audio are relayed, never logged or stored.</a:t>
            </a:r>
          </a:p>
          <a:p>
            <a:pPr algn="l">
              <a:lnSpc>
                <a:spcPct val="110000"/>
              </a:lnSpc>
              <a:spcBef>
                <a:spcPts val="1400"/>
              </a:spcBef>
            </a:pPr>
            <a:r>
              <a:rPr sz="1900" b="1" i="0">
                <a:solidFill>
                  <a:srgbClr val="1C2E37"/>
                </a:solidFill>
                <a:latin typeface="Calibri"/>
              </a:rPr>
              <a:t>The API key stays on the server</a:t>
            </a:r>
          </a:p>
          <a:p>
            <a:pPr algn="l">
              <a:lnSpc>
                <a:spcPct val="110000"/>
              </a:lnSpc>
              <a:spcBef>
                <a:spcPts val="300"/>
              </a:spcBef>
            </a:pPr>
            <a:r>
              <a:rPr sz="1500" b="0" i="0">
                <a:solidFill>
                  <a:srgbClr val="4D5F68"/>
                </a:solidFill>
                <a:latin typeface="Calibri"/>
              </a:rPr>
              <a:t>The browser gets a short-lived, one-use session ticket.</a:t>
            </a:r>
          </a:p>
        </p:txBody>
      </p:sp>
      <p:pic>
        <p:nvPicPr>
          <p:cNvPr id="23" name="Jot smiling" descr="Jot smiling"/>
          <p:cNvPicPr>
            <a:picLocks noChangeAspect="1"/>
          </p:cNvPicPr>
          <p:nvPr/>
        </p:nvPicPr>
        <p:blipFill>
          <a:blip r:embed="rId3"/>
          <a:stretch>
            <a:fillRect/>
          </a:stretch>
        </p:blipFill>
        <p:spPr>
          <a:xfrm>
            <a:off x="10561320" y="5120640"/>
            <a:ext cx="1554480" cy="15544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2928112"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3330448"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How it works</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The browser captures and draws; the server owns the model, the prompts, and the tools.</a:t>
            </a:r>
          </a:p>
        </p:txBody>
      </p:sp>
      <p:sp>
        <p:nvSpPr>
          <p:cNvPr id="21" name="Card: Browser"/>
          <p:cNvSpPr/>
          <p:nvPr/>
        </p:nvSpPr>
        <p:spPr>
          <a:xfrm>
            <a:off x="1188720" y="2103120"/>
            <a:ext cx="3017520" cy="205740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Browser</a:t>
            </a:r>
          </a:p>
          <a:p>
            <a:pPr algn="l">
              <a:lnSpc>
                <a:spcPct val="110000"/>
              </a:lnSpc>
              <a:spcBef>
                <a:spcPts val="600"/>
              </a:spcBef>
            </a:pPr>
            <a:r>
              <a:rPr sz="1500">
                <a:solidFill>
                  <a:srgbClr val="4D5F68"/>
                </a:solidFill>
                <a:latin typeface="Calibri"/>
              </a:rPr>
              <a:t>Screen preview, mic, and marks. Samples about one frame a second.</a:t>
            </a:r>
          </a:p>
        </p:txBody>
      </p:sp>
      <p:sp>
        <p:nvSpPr>
          <p:cNvPr id="22" name="Icon badge"/>
          <p:cNvSpPr/>
          <p:nvPr/>
        </p:nvSpPr>
        <p:spPr>
          <a:xfrm rot="21240000">
            <a:off x="1463040" y="235915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monitor.png"/>
          <p:cNvPicPr>
            <a:picLocks noChangeAspect="1"/>
          </p:cNvPicPr>
          <p:nvPr/>
        </p:nvPicPr>
        <p:blipFill>
          <a:blip r:embed="rId2"/>
          <a:stretch>
            <a:fillRect/>
          </a:stretch>
        </p:blipFill>
        <p:spPr>
          <a:xfrm>
            <a:off x="1554480" y="2450592"/>
            <a:ext cx="329184" cy="329184"/>
          </a:xfrm>
          <a:prstGeom prst="rect">
            <a:avLst/>
          </a:prstGeom>
        </p:spPr>
      </p:pic>
      <p:sp>
        <p:nvSpPr>
          <p:cNvPr id="24" name="Two-way stream"/>
          <p:cNvSpPr/>
          <p:nvPr/>
        </p:nvSpPr>
        <p:spPr>
          <a:xfrm>
            <a:off x="4279392" y="2926080"/>
            <a:ext cx="502920" cy="384048"/>
          </a:xfrm>
          <a:prstGeom prst="leftRightArrow">
            <a:avLst/>
          </a:prstGeom>
          <a:solidFill>
            <a:srgbClr val="F6D94A"/>
          </a:solidFill>
          <a:ln w="12700">
            <a:solidFill>
              <a:srgbClr val="1C2E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rd: FastAPI server"/>
          <p:cNvSpPr/>
          <p:nvPr/>
        </p:nvSpPr>
        <p:spPr>
          <a:xfrm>
            <a:off x="4800600" y="2103120"/>
            <a:ext cx="3017520" cy="205740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FastAPI server</a:t>
            </a:r>
          </a:p>
          <a:p>
            <a:pPr algn="l">
              <a:lnSpc>
                <a:spcPct val="110000"/>
              </a:lnSpc>
              <a:spcBef>
                <a:spcPts val="600"/>
              </a:spcBef>
            </a:pPr>
            <a:r>
              <a:rPr sz="1500">
                <a:solidFill>
                  <a:srgbClr val="4D5F68"/>
                </a:solidFill>
                <a:latin typeface="Calibri"/>
              </a:rPr>
              <a:t>Session tickets, class context, tool execution, SQLite library.</a:t>
            </a:r>
          </a:p>
        </p:txBody>
      </p:sp>
      <p:sp>
        <p:nvSpPr>
          <p:cNvPr id="26" name="Icon badge"/>
          <p:cNvSpPr/>
          <p:nvPr/>
        </p:nvSpPr>
        <p:spPr>
          <a:xfrm rot="21240000">
            <a:off x="5074920" y="235915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con-refresh.png"/>
          <p:cNvPicPr>
            <a:picLocks noChangeAspect="1"/>
          </p:cNvPicPr>
          <p:nvPr/>
        </p:nvPicPr>
        <p:blipFill>
          <a:blip r:embed="rId3"/>
          <a:stretch>
            <a:fillRect/>
          </a:stretch>
        </p:blipFill>
        <p:spPr>
          <a:xfrm>
            <a:off x="5166360" y="2450592"/>
            <a:ext cx="329184" cy="329184"/>
          </a:xfrm>
          <a:prstGeom prst="rect">
            <a:avLst/>
          </a:prstGeom>
        </p:spPr>
      </p:pic>
      <p:sp>
        <p:nvSpPr>
          <p:cNvPr id="28" name="Two-way stream"/>
          <p:cNvSpPr/>
          <p:nvPr/>
        </p:nvSpPr>
        <p:spPr>
          <a:xfrm>
            <a:off x="7891272" y="2926080"/>
            <a:ext cx="502920" cy="384048"/>
          </a:xfrm>
          <a:prstGeom prst="leftRightArrow">
            <a:avLst/>
          </a:prstGeom>
          <a:solidFill>
            <a:srgbClr val="F6D94A"/>
          </a:solidFill>
          <a:ln w="12700">
            <a:solidFill>
              <a:srgbClr val="1C2E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ard: Gemini Live"/>
          <p:cNvSpPr/>
          <p:nvPr/>
        </p:nvSpPr>
        <p:spPr>
          <a:xfrm>
            <a:off x="8412480" y="2103120"/>
            <a:ext cx="3017520" cy="205740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Gemini Live</a:t>
            </a:r>
          </a:p>
          <a:p>
            <a:pPr algn="l">
              <a:lnSpc>
                <a:spcPct val="110000"/>
              </a:lnSpc>
              <a:spcBef>
                <a:spcPts val="600"/>
              </a:spcBef>
            </a:pPr>
            <a:r>
              <a:rPr sz="1500">
                <a:solidFill>
                  <a:srgbClr val="4D5F68"/>
                </a:solidFill>
                <a:latin typeface="Calibri"/>
              </a:rPr>
              <a:t>Sees frames, hears the student, speaks, and asks for marks.</a:t>
            </a:r>
          </a:p>
        </p:txBody>
      </p:sp>
      <p:sp>
        <p:nvSpPr>
          <p:cNvPr id="30" name="Icon badge"/>
          <p:cNvSpPr/>
          <p:nvPr/>
        </p:nvSpPr>
        <p:spPr>
          <a:xfrm rot="21240000">
            <a:off x="8686800" y="235915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on-sparkles.png"/>
          <p:cNvPicPr>
            <a:picLocks noChangeAspect="1"/>
          </p:cNvPicPr>
          <p:nvPr/>
        </p:nvPicPr>
        <p:blipFill>
          <a:blip r:embed="rId4"/>
          <a:stretch>
            <a:fillRect/>
          </a:stretch>
        </p:blipFill>
        <p:spPr>
          <a:xfrm>
            <a:off x="8778240" y="2450592"/>
            <a:ext cx="329184" cy="329184"/>
          </a:xfrm>
          <a:prstGeom prst="rect">
            <a:avLst/>
          </a:prstGeom>
        </p:spPr>
      </p:pic>
      <p:sp>
        <p:nvSpPr>
          <p:cNvPr id="32" name="Tools heading"/>
          <p:cNvSpPr txBox="1"/>
          <p:nvPr/>
        </p:nvSpPr>
        <p:spPr>
          <a:xfrm>
            <a:off x="1188720" y="4526280"/>
            <a:ext cx="2743200" cy="365760"/>
          </a:xfrm>
          <a:prstGeom prst="rect">
            <a:avLst/>
          </a:prstGeom>
          <a:noFill/>
        </p:spPr>
        <p:txBody>
          <a:bodyPr wrap="square" lIns="0" rIns="0" tIns="0" bIns="0" anchor="t">
            <a:spAutoFit/>
          </a:bodyPr>
          <a:lstStyle/>
          <a:p>
            <a:pPr algn="l">
              <a:lnSpc>
                <a:spcPct val="110000"/>
              </a:lnSpc>
            </a:pPr>
            <a:r>
              <a:rPr sz="1700" b="1" i="0">
                <a:solidFill>
                  <a:srgbClr val="1C2E37"/>
                </a:solidFill>
                <a:latin typeface="Calibri"/>
              </a:rPr>
              <a:t>Tools the tutor can call</a:t>
            </a:r>
          </a:p>
        </p:txBody>
      </p:sp>
      <p:sp>
        <p:nvSpPr>
          <p:cNvPr id="33" name="Pill: add_annotations (marks)"/>
          <p:cNvSpPr/>
          <p:nvPr/>
        </p:nvSpPr>
        <p:spPr>
          <a:xfrm>
            <a:off x="1188720" y="4983480"/>
            <a:ext cx="2487488" cy="373380"/>
          </a:xfrm>
          <a:prstGeom prst="roundRect">
            <a:avLst>
              <a:gd name="adj" fmla="val 50000"/>
            </a:avLst>
          </a:prstGeom>
          <a:solidFill>
            <a:srgbClr val="FFFDF7"/>
          </a:solidFill>
          <a:ln>
            <a:solidFill>
              <a:srgbClr val="D3CAB4"/>
            </a:solid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400" b="1">
                <a:solidFill>
                  <a:srgbClr val="1C2E37"/>
                </a:solidFill>
                <a:latin typeface="Calibri"/>
              </a:rPr>
              <a:t>add_annotations (marks)</a:t>
            </a:r>
          </a:p>
        </p:txBody>
      </p:sp>
      <p:sp>
        <p:nvSpPr>
          <p:cNvPr id="34" name="Pill: calculator"/>
          <p:cNvSpPr/>
          <p:nvPr/>
        </p:nvSpPr>
        <p:spPr>
          <a:xfrm>
            <a:off x="3840800" y="4983480"/>
            <a:ext cx="1217399" cy="373380"/>
          </a:xfrm>
          <a:prstGeom prst="roundRect">
            <a:avLst>
              <a:gd name="adj" fmla="val 50000"/>
            </a:avLst>
          </a:prstGeom>
          <a:solidFill>
            <a:srgbClr val="FFFDF7"/>
          </a:solidFill>
          <a:ln>
            <a:solidFill>
              <a:srgbClr val="D3CAB4"/>
            </a:solid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400" b="1">
                <a:solidFill>
                  <a:srgbClr val="1C2E37"/>
                </a:solidFill>
                <a:latin typeface="Calibri"/>
              </a:rPr>
              <a:t>calculator</a:t>
            </a:r>
          </a:p>
        </p:txBody>
      </p:sp>
      <p:sp>
        <p:nvSpPr>
          <p:cNvPr id="35" name="Pill: Lean proof check"/>
          <p:cNvSpPr/>
          <p:nvPr/>
        </p:nvSpPr>
        <p:spPr>
          <a:xfrm>
            <a:off x="5222791" y="4983480"/>
            <a:ext cx="1806045" cy="373380"/>
          </a:xfrm>
          <a:prstGeom prst="roundRect">
            <a:avLst>
              <a:gd name="adj" fmla="val 50000"/>
            </a:avLst>
          </a:prstGeom>
          <a:solidFill>
            <a:srgbClr val="FFFDF7"/>
          </a:solidFill>
          <a:ln>
            <a:solidFill>
              <a:srgbClr val="D3CAB4"/>
            </a:solid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400" b="1">
                <a:solidFill>
                  <a:srgbClr val="1C2E37"/>
                </a:solidFill>
                <a:latin typeface="Calibri"/>
              </a:rPr>
              <a:t>Lean proof check</a:t>
            </a:r>
          </a:p>
        </p:txBody>
      </p:sp>
      <p:sp>
        <p:nvSpPr>
          <p:cNvPr id="36" name="Pill: Google Search"/>
          <p:cNvSpPr/>
          <p:nvPr/>
        </p:nvSpPr>
        <p:spPr>
          <a:xfrm>
            <a:off x="7193428" y="4983480"/>
            <a:ext cx="1585601" cy="373380"/>
          </a:xfrm>
          <a:prstGeom prst="roundRect">
            <a:avLst>
              <a:gd name="adj" fmla="val 50000"/>
            </a:avLst>
          </a:prstGeom>
          <a:solidFill>
            <a:srgbClr val="FFFDF7"/>
          </a:solidFill>
          <a:ln>
            <a:solidFill>
              <a:srgbClr val="D3CAB4"/>
            </a:solid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400" b="1">
                <a:solidFill>
                  <a:srgbClr val="1C2E37"/>
                </a:solidFill>
                <a:latin typeface="Calibri"/>
              </a:rPr>
              <a:t>Google Search</a:t>
            </a:r>
          </a:p>
        </p:txBody>
      </p:sp>
      <p:sp>
        <p:nvSpPr>
          <p:cNvPr id="37" name="Stack heading"/>
          <p:cNvSpPr txBox="1"/>
          <p:nvPr/>
        </p:nvSpPr>
        <p:spPr>
          <a:xfrm>
            <a:off x="1188720" y="5623560"/>
            <a:ext cx="2743200" cy="365760"/>
          </a:xfrm>
          <a:prstGeom prst="rect">
            <a:avLst/>
          </a:prstGeom>
          <a:noFill/>
        </p:spPr>
        <p:txBody>
          <a:bodyPr wrap="square" lIns="0" rIns="0" tIns="0" bIns="0" anchor="t">
            <a:spAutoFit/>
          </a:bodyPr>
          <a:lstStyle/>
          <a:p>
            <a:pPr algn="l">
              <a:lnSpc>
                <a:spcPct val="110000"/>
              </a:lnSpc>
            </a:pPr>
            <a:r>
              <a:rPr sz="1700" b="1" i="0">
                <a:solidFill>
                  <a:srgbClr val="1C2E37"/>
                </a:solidFill>
                <a:latin typeface="Calibri"/>
              </a:rPr>
              <a:t>Stack</a:t>
            </a:r>
          </a:p>
        </p:txBody>
      </p:sp>
      <p:sp>
        <p:nvSpPr>
          <p:cNvPr id="38" name="Pill: Python · FastAPI · Pydantic"/>
          <p:cNvSpPr/>
          <p:nvPr/>
        </p:nvSpPr>
        <p:spPr>
          <a:xfrm>
            <a:off x="1920240" y="5577840"/>
            <a:ext cx="2453670" cy="346710"/>
          </a:xfrm>
          <a:prstGeom prst="roundRect">
            <a:avLst>
              <a:gd name="adj" fmla="val 50000"/>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300" b="1">
                <a:solidFill>
                  <a:srgbClr val="FFFDF7"/>
                </a:solidFill>
                <a:latin typeface="Calibri"/>
              </a:rPr>
              <a:t>Python · FastAPI · Pydantic</a:t>
            </a:r>
          </a:p>
        </p:txBody>
      </p:sp>
      <p:sp>
        <p:nvSpPr>
          <p:cNvPr id="39" name="Pill: google-genai SDK"/>
          <p:cNvSpPr/>
          <p:nvPr/>
        </p:nvSpPr>
        <p:spPr>
          <a:xfrm>
            <a:off x="4511070" y="5577840"/>
            <a:ext cx="1735365" cy="346710"/>
          </a:xfrm>
          <a:prstGeom prst="roundRect">
            <a:avLst>
              <a:gd name="adj" fmla="val 50000"/>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300" b="1">
                <a:solidFill>
                  <a:srgbClr val="FFFDF7"/>
                </a:solidFill>
                <a:latin typeface="Calibri"/>
              </a:rPr>
              <a:t>google-genai SDK</a:t>
            </a:r>
          </a:p>
        </p:txBody>
      </p:sp>
      <p:sp>
        <p:nvSpPr>
          <p:cNvPr id="40" name="Pill: Vanilla JS + Vite"/>
          <p:cNvSpPr/>
          <p:nvPr/>
        </p:nvSpPr>
        <p:spPr>
          <a:xfrm>
            <a:off x="6383595" y="5577840"/>
            <a:ext cx="1608147" cy="346710"/>
          </a:xfrm>
          <a:prstGeom prst="roundRect">
            <a:avLst>
              <a:gd name="adj" fmla="val 50000"/>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300" b="1">
                <a:solidFill>
                  <a:srgbClr val="FFFDF7"/>
                </a:solidFill>
                <a:latin typeface="Calibri"/>
              </a:rPr>
              <a:t>Vanilla JS + Vite</a:t>
            </a:r>
          </a:p>
        </p:txBody>
      </p:sp>
      <p:sp>
        <p:nvSpPr>
          <p:cNvPr id="41" name="Pill: SQLite"/>
          <p:cNvSpPr/>
          <p:nvPr/>
        </p:nvSpPr>
        <p:spPr>
          <a:xfrm>
            <a:off x="8128902" y="5577840"/>
            <a:ext cx="897529" cy="346710"/>
          </a:xfrm>
          <a:prstGeom prst="roundRect">
            <a:avLst>
              <a:gd name="adj" fmla="val 50000"/>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300" b="1">
                <a:solidFill>
                  <a:srgbClr val="FFFDF7"/>
                </a:solidFill>
                <a:latin typeface="Calibri"/>
              </a:rPr>
              <a:t>SQLite</a:t>
            </a:r>
          </a:p>
        </p:txBody>
      </p:sp>
      <p:sp>
        <p:nvSpPr>
          <p:cNvPr id="42" name="Pill: pdf.js"/>
          <p:cNvSpPr/>
          <p:nvPr/>
        </p:nvSpPr>
        <p:spPr>
          <a:xfrm>
            <a:off x="9163591" y="5577840"/>
            <a:ext cx="829667" cy="346710"/>
          </a:xfrm>
          <a:prstGeom prst="roundRect">
            <a:avLst>
              <a:gd name="adj" fmla="val 50000"/>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300" b="1">
                <a:solidFill>
                  <a:srgbClr val="FFFDF7"/>
                </a:solidFill>
                <a:latin typeface="Calibri"/>
              </a:rPr>
              <a:t>pdf.js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817880"/>
            <a:ext cx="2680208" cy="213360"/>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502920"/>
            <a:ext cx="3082544" cy="685800"/>
          </a:xfrm>
          <a:prstGeom prst="rect">
            <a:avLst/>
          </a:prstGeom>
          <a:noFill/>
        </p:spPr>
        <p:txBody>
          <a:bodyPr wrap="square" lIns="0" rIns="0" tIns="0" bIns="0" anchor="t">
            <a:spAutoFit/>
          </a:bodyPr>
          <a:lstStyle/>
          <a:p>
            <a:pPr algn="l">
              <a:lnSpc>
                <a:spcPct val="110000"/>
              </a:lnSpc>
            </a:pPr>
            <a:r>
              <a:rPr sz="4000" b="1" i="0">
                <a:solidFill>
                  <a:srgbClr val="1C2E37"/>
                </a:solidFill>
                <a:latin typeface="Calibri"/>
              </a:rPr>
              <a:t>What's next</a:t>
            </a:r>
          </a:p>
        </p:txBody>
      </p:sp>
      <p:sp>
        <p:nvSpPr>
          <p:cNvPr id="20" name="Subtitle"/>
          <p:cNvSpPr txBox="1"/>
          <p:nvPr/>
        </p:nvSpPr>
        <p:spPr>
          <a:xfrm>
            <a:off x="1188720" y="1234440"/>
            <a:ext cx="10058400" cy="457200"/>
          </a:xfrm>
          <a:prstGeom prst="rect">
            <a:avLst/>
          </a:prstGeom>
          <a:noFill/>
        </p:spPr>
        <p:txBody>
          <a:bodyPr wrap="square" lIns="0" rIns="0" tIns="0" bIns="0" anchor="t">
            <a:spAutoFit/>
          </a:bodyPr>
          <a:lstStyle/>
          <a:p>
            <a:pPr algn="l">
              <a:lnSpc>
                <a:spcPct val="110000"/>
              </a:lnSpc>
            </a:pPr>
            <a:r>
              <a:rPr sz="2000" b="0" i="0">
                <a:solidFill>
                  <a:srgbClr val="4D5F68"/>
                </a:solidFill>
                <a:latin typeface="Calibri"/>
              </a:rPr>
              <a:t>Bringing Jot to more of the places students learn.</a:t>
            </a:r>
          </a:p>
        </p:txBody>
      </p:sp>
      <p:sp>
        <p:nvSpPr>
          <p:cNvPr id="21" name="Card: Classroom import"/>
          <p:cNvSpPr/>
          <p:nvPr/>
        </p:nvSpPr>
        <p:spPr>
          <a:xfrm rot="21528000">
            <a:off x="1188720" y="2194560"/>
            <a:ext cx="3063240" cy="260604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Classroom import</a:t>
            </a:r>
          </a:p>
          <a:p>
            <a:pPr algn="l">
              <a:lnSpc>
                <a:spcPct val="110000"/>
              </a:lnSpc>
              <a:spcBef>
                <a:spcPts val="600"/>
              </a:spcBef>
            </a:pPr>
            <a:r>
              <a:rPr sz="1500">
                <a:solidFill>
                  <a:srgbClr val="4D5F68"/>
                </a:solidFill>
                <a:latin typeface="Calibri"/>
              </a:rPr>
              <a:t>Pull syllabi, slides, and assignments straight from a course site like Canvas.</a:t>
            </a:r>
          </a:p>
        </p:txBody>
      </p:sp>
      <p:sp>
        <p:nvSpPr>
          <p:cNvPr id="22" name="Divider tab"/>
          <p:cNvSpPr/>
          <p:nvPr/>
        </p:nvSpPr>
        <p:spPr>
          <a:xfrm rot="21528000">
            <a:off x="1508760" y="2093976"/>
            <a:ext cx="685800" cy="118872"/>
          </a:xfrm>
          <a:prstGeom prst="round2SameRect">
            <a:avLst/>
          </a:prstGeom>
          <a:solidFill>
            <a:srgbClr val="4F7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con badge"/>
          <p:cNvSpPr/>
          <p:nvPr/>
        </p:nvSpPr>
        <p:spPr>
          <a:xfrm rot="21168000">
            <a:off x="1463040" y="245059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on-syllabus.png"/>
          <p:cNvPicPr>
            <a:picLocks noChangeAspect="1"/>
          </p:cNvPicPr>
          <p:nvPr/>
        </p:nvPicPr>
        <p:blipFill>
          <a:blip r:embed="rId2"/>
          <a:stretch>
            <a:fillRect/>
          </a:stretch>
        </p:blipFill>
        <p:spPr>
          <a:xfrm>
            <a:off x="1554480" y="2542032"/>
            <a:ext cx="329184" cy="329184"/>
          </a:xfrm>
          <a:prstGeom prst="rect">
            <a:avLst/>
          </a:prstGeom>
        </p:spPr>
      </p:pic>
      <p:sp>
        <p:nvSpPr>
          <p:cNvPr id="25" name="Card: Pen and paper"/>
          <p:cNvSpPr/>
          <p:nvPr/>
        </p:nvSpPr>
        <p:spPr>
          <a:xfrm rot="60000">
            <a:off x="4526280" y="2194560"/>
            <a:ext cx="3063240" cy="260604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Pen and paper</a:t>
            </a:r>
          </a:p>
          <a:p>
            <a:pPr algn="l">
              <a:lnSpc>
                <a:spcPct val="110000"/>
              </a:lnSpc>
              <a:spcBef>
                <a:spcPts val="600"/>
              </a:spcBef>
            </a:pPr>
            <a:r>
              <a:rPr sz="1500">
                <a:solidFill>
                  <a:srgbClr val="4D5F68"/>
                </a:solidFill>
                <a:latin typeface="Calibri"/>
              </a:rPr>
              <a:t>Tablet and stylus mode, or a phone camera pointed at handwritten homework.</a:t>
            </a:r>
          </a:p>
        </p:txBody>
      </p:sp>
      <p:sp>
        <p:nvSpPr>
          <p:cNvPr id="26" name="Divider tab"/>
          <p:cNvSpPr/>
          <p:nvPr/>
        </p:nvSpPr>
        <p:spPr>
          <a:xfrm rot="60000">
            <a:off x="4846320" y="2093976"/>
            <a:ext cx="685800" cy="118872"/>
          </a:xfrm>
          <a:prstGeom prst="round2SameRect">
            <a:avLst/>
          </a:prstGeom>
          <a:solidFill>
            <a:srgbClr val="A33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con badge"/>
          <p:cNvSpPr/>
          <p:nvPr/>
        </p:nvSpPr>
        <p:spPr>
          <a:xfrm rot="21300000">
            <a:off x="4800600" y="245059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n-pencil.png"/>
          <p:cNvPicPr>
            <a:picLocks noChangeAspect="1"/>
          </p:cNvPicPr>
          <p:nvPr/>
        </p:nvPicPr>
        <p:blipFill>
          <a:blip r:embed="rId3"/>
          <a:stretch>
            <a:fillRect/>
          </a:stretch>
        </p:blipFill>
        <p:spPr>
          <a:xfrm>
            <a:off x="4892040" y="2542032"/>
            <a:ext cx="329184" cy="329184"/>
          </a:xfrm>
          <a:prstGeom prst="rect">
            <a:avLst/>
          </a:prstGeom>
        </p:spPr>
      </p:pic>
      <p:sp>
        <p:nvSpPr>
          <p:cNvPr id="29" name="Card: Study groups"/>
          <p:cNvSpPr/>
          <p:nvPr/>
        </p:nvSpPr>
        <p:spPr>
          <a:xfrm rot="21564000">
            <a:off x="7863840" y="2194560"/>
            <a:ext cx="3063240" cy="2606040"/>
          </a:xfrm>
          <a:prstGeom prst="roundRect">
            <a:avLst>
              <a:gd name="adj" fmla="val 7000"/>
            </a:avLst>
          </a:prstGeom>
          <a:solidFill>
            <a:srgbClr val="FFFDF7"/>
          </a:solidFill>
          <a:ln w="9525">
            <a:solidFill>
              <a:srgbClr val="D3CAB4"/>
            </a:solidFill>
          </a:ln>
          <a:effectLst>
            <a:outerShdw blurRad="127000" dist="50800" dir="5400000" algn="t" rotWithShape="0">
              <a:srgbClr val="1C2E37">
                <a:alpha val="14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868680" bIns="228600"/>
          <a:lstStyle/>
          <a:p>
            <a:pPr algn="l"/>
            <a:r>
              <a:rPr sz="2100" b="1">
                <a:solidFill>
                  <a:srgbClr val="1C2E37"/>
                </a:solidFill>
                <a:latin typeface="Calibri"/>
              </a:rPr>
              <a:t>Study groups</a:t>
            </a:r>
          </a:p>
          <a:p>
            <a:pPr algn="l">
              <a:lnSpc>
                <a:spcPct val="110000"/>
              </a:lnSpc>
              <a:spcBef>
                <a:spcPts val="600"/>
              </a:spcBef>
            </a:pPr>
            <a:r>
              <a:rPr sz="1500">
                <a:solidFill>
                  <a:srgbClr val="4D5F68"/>
                </a:solidFill>
                <a:latin typeface="Calibri"/>
              </a:rPr>
              <a:t>Shared sessions where classmates work a problem set together with Jot.</a:t>
            </a:r>
          </a:p>
        </p:txBody>
      </p:sp>
      <p:sp>
        <p:nvSpPr>
          <p:cNvPr id="30" name="Divider tab"/>
          <p:cNvSpPr/>
          <p:nvPr/>
        </p:nvSpPr>
        <p:spPr>
          <a:xfrm rot="21564000">
            <a:off x="8183880" y="2093976"/>
            <a:ext cx="685800" cy="118872"/>
          </a:xfrm>
          <a:prstGeom prst="round2SameRect">
            <a:avLst/>
          </a:prstGeom>
          <a:solidFill>
            <a:srgbClr val="8A6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con badge"/>
          <p:cNvSpPr/>
          <p:nvPr/>
        </p:nvSpPr>
        <p:spPr>
          <a:xfrm rot="21204000">
            <a:off x="8138160" y="2450592"/>
            <a:ext cx="512064" cy="512064"/>
          </a:xfrm>
          <a:prstGeom prst="roundRect">
            <a:avLst>
              <a:gd name="adj" fmla="val 34000"/>
            </a:avLst>
          </a:prstGeom>
          <a:solidFill>
            <a:srgbClr val="E3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user.png"/>
          <p:cNvPicPr>
            <a:picLocks noChangeAspect="1"/>
          </p:cNvPicPr>
          <p:nvPr/>
        </p:nvPicPr>
        <p:blipFill>
          <a:blip r:embed="rId4"/>
          <a:stretch>
            <a:fillRect/>
          </a:stretch>
        </p:blipFill>
        <p:spPr>
          <a:xfrm>
            <a:off x="8229600" y="2542032"/>
            <a:ext cx="329184" cy="3291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12191695" cy="6858000"/>
          </a:xfrm>
          <a:prstGeom prst="rect">
            <a:avLst/>
          </a:prstGeom>
          <a:solidFill>
            <a:srgbClr val="F4E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Rule"/>
          <p:cNvCxnSpPr/>
          <p:nvPr/>
        </p:nvCxnSpPr>
        <p:spPr>
          <a:xfrm>
            <a:off x="0" y="457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4" name="Rule"/>
          <p:cNvCxnSpPr/>
          <p:nvPr/>
        </p:nvCxnSpPr>
        <p:spPr>
          <a:xfrm>
            <a:off x="0" y="914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5" name="Rule"/>
          <p:cNvCxnSpPr/>
          <p:nvPr/>
        </p:nvCxnSpPr>
        <p:spPr>
          <a:xfrm>
            <a:off x="0" y="1371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6" name="Rule"/>
          <p:cNvCxnSpPr/>
          <p:nvPr/>
        </p:nvCxnSpPr>
        <p:spPr>
          <a:xfrm>
            <a:off x="0" y="1828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7" name="Rule"/>
          <p:cNvCxnSpPr/>
          <p:nvPr/>
        </p:nvCxnSpPr>
        <p:spPr>
          <a:xfrm>
            <a:off x="0" y="2286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8" name="Rule"/>
          <p:cNvCxnSpPr/>
          <p:nvPr/>
        </p:nvCxnSpPr>
        <p:spPr>
          <a:xfrm>
            <a:off x="0" y="2743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9" name="Rule"/>
          <p:cNvCxnSpPr/>
          <p:nvPr/>
        </p:nvCxnSpPr>
        <p:spPr>
          <a:xfrm>
            <a:off x="0" y="3200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0" y="3657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1" name="Rule"/>
          <p:cNvCxnSpPr/>
          <p:nvPr/>
        </p:nvCxnSpPr>
        <p:spPr>
          <a:xfrm>
            <a:off x="0" y="4114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2" name="Rule"/>
          <p:cNvCxnSpPr/>
          <p:nvPr/>
        </p:nvCxnSpPr>
        <p:spPr>
          <a:xfrm>
            <a:off x="0" y="45720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3" name="Rule"/>
          <p:cNvCxnSpPr/>
          <p:nvPr/>
        </p:nvCxnSpPr>
        <p:spPr>
          <a:xfrm>
            <a:off x="0" y="50292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4" name="Rule"/>
          <p:cNvCxnSpPr/>
          <p:nvPr/>
        </p:nvCxnSpPr>
        <p:spPr>
          <a:xfrm>
            <a:off x="0" y="54864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5" name="Rule"/>
          <p:cNvCxnSpPr/>
          <p:nvPr/>
        </p:nvCxnSpPr>
        <p:spPr>
          <a:xfrm>
            <a:off x="0" y="59436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0" y="6400800"/>
            <a:ext cx="12191695" cy="0"/>
          </a:xfrm>
          <a:prstGeom prst="line">
            <a:avLst/>
          </a:prstGeom>
          <a:ln w="9525">
            <a:solidFill>
              <a:srgbClr val="E6E2D6"/>
            </a:solidFill>
          </a:ln>
        </p:spPr>
        <p:style>
          <a:lnRef idx="2">
            <a:schemeClr val="accent1"/>
          </a:lnRef>
          <a:fillRef idx="0">
            <a:schemeClr val="accent1"/>
          </a:fillRef>
          <a:effectRef idx="1">
            <a:schemeClr val="accent1"/>
          </a:effectRef>
          <a:fontRef idx="minor">
            <a:schemeClr val="tx1"/>
          </a:fontRef>
        </p:style>
      </p:cxnSp>
      <p:cxnSp>
        <p:nvCxnSpPr>
          <p:cNvPr id="17" name="Margin rule"/>
          <p:cNvCxnSpPr/>
          <p:nvPr/>
        </p:nvCxnSpPr>
        <p:spPr>
          <a:xfrm>
            <a:off x="868680" y="0"/>
            <a:ext cx="0" cy="6858000"/>
          </a:xfrm>
          <a:prstGeom prst="line">
            <a:avLst/>
          </a:prstGeom>
          <a:ln w="19050">
            <a:solidFill>
              <a:srgbClr val="E2ACA2"/>
            </a:solidFill>
          </a:ln>
        </p:spPr>
        <p:style>
          <a:lnRef idx="2">
            <a:schemeClr val="accent1"/>
          </a:lnRef>
          <a:fillRef idx="0">
            <a:schemeClr val="accent1"/>
          </a:fillRef>
          <a:effectRef idx="1">
            <a:schemeClr val="accent1"/>
          </a:effectRef>
          <a:fontRef idx="minor">
            <a:schemeClr val="tx1"/>
          </a:fontRef>
        </p:style>
      </p:cxnSp>
      <p:sp>
        <p:nvSpPr>
          <p:cNvPr id="18" name="Highlighter"/>
          <p:cNvSpPr/>
          <p:nvPr/>
        </p:nvSpPr>
        <p:spPr>
          <a:xfrm>
            <a:off x="1115568" y="2036064"/>
            <a:ext cx="5808268" cy="512064"/>
          </a:xfrm>
          <a:prstGeom prst="rect">
            <a:avLst/>
          </a:prstGeom>
          <a:solidFill>
            <a:srgbClr val="F6D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tle"/>
          <p:cNvSpPr txBox="1"/>
          <p:nvPr/>
        </p:nvSpPr>
        <p:spPr>
          <a:xfrm>
            <a:off x="1188720" y="1280160"/>
            <a:ext cx="6210604" cy="1645920"/>
          </a:xfrm>
          <a:prstGeom prst="rect">
            <a:avLst/>
          </a:prstGeom>
          <a:noFill/>
        </p:spPr>
        <p:txBody>
          <a:bodyPr wrap="square" lIns="0" rIns="0" tIns="0" bIns="0" anchor="t">
            <a:spAutoFit/>
          </a:bodyPr>
          <a:lstStyle/>
          <a:p>
            <a:pPr algn="l">
              <a:lnSpc>
                <a:spcPct val="110000"/>
              </a:lnSpc>
            </a:pPr>
            <a:r>
              <a:rPr sz="9600" b="1" i="0">
                <a:solidFill>
                  <a:srgbClr val="1C2E37"/>
                </a:solidFill>
                <a:latin typeface="Calibri"/>
              </a:rPr>
              <a:t>Thank you!</a:t>
            </a:r>
          </a:p>
        </p:txBody>
      </p:sp>
      <p:sp>
        <p:nvSpPr>
          <p:cNvPr id="20" name="Tagline"/>
          <p:cNvSpPr txBox="1"/>
          <p:nvPr/>
        </p:nvSpPr>
        <p:spPr>
          <a:xfrm>
            <a:off x="1188720" y="2926080"/>
            <a:ext cx="6858000" cy="731520"/>
          </a:xfrm>
          <a:prstGeom prst="rect">
            <a:avLst/>
          </a:prstGeom>
          <a:noFill/>
        </p:spPr>
        <p:txBody>
          <a:bodyPr wrap="square" lIns="0" rIns="0" tIns="0" bIns="0" anchor="t">
            <a:spAutoFit/>
          </a:bodyPr>
          <a:lstStyle/>
          <a:p>
            <a:pPr algn="l">
              <a:lnSpc>
                <a:spcPct val="110000"/>
              </a:lnSpc>
            </a:pPr>
            <a:r>
              <a:rPr sz="3600" b="1" i="0">
                <a:solidFill>
                  <a:srgbClr val="1C2E37"/>
                </a:solidFill>
                <a:latin typeface="Calibri"/>
              </a:rPr>
              <a:t>Share. Ask. Understand.</a:t>
            </a:r>
          </a:p>
        </p:txBody>
      </p:sp>
      <p:sp>
        <p:nvSpPr>
          <p:cNvPr id="21" name="Invite"/>
          <p:cNvSpPr txBox="1"/>
          <p:nvPr/>
        </p:nvSpPr>
        <p:spPr>
          <a:xfrm>
            <a:off x="1188720" y="3794760"/>
            <a:ext cx="6858000" cy="457200"/>
          </a:xfrm>
          <a:prstGeom prst="rect">
            <a:avLst/>
          </a:prstGeom>
          <a:noFill/>
        </p:spPr>
        <p:txBody>
          <a:bodyPr wrap="square" lIns="0" rIns="0" tIns="0" bIns="0" anchor="t">
            <a:spAutoFit/>
          </a:bodyPr>
          <a:lstStyle/>
          <a:p>
            <a:pPr algn="l">
              <a:lnSpc>
                <a:spcPct val="110000"/>
              </a:lnSpc>
            </a:pPr>
            <a:r>
              <a:rPr sz="1800" b="0" i="0">
                <a:solidFill>
                  <a:srgbClr val="4D5F68"/>
                </a:solidFill>
                <a:latin typeface="Calibri"/>
              </a:rPr>
              <a:t>Questions? Try it live: we'll share a screen and ask Jot anything.</a:t>
            </a:r>
          </a:p>
        </p:txBody>
      </p:sp>
      <p:sp>
        <p:nvSpPr>
          <p:cNvPr id="22" name="Pill: Education Track  ·  HackRU Fall 2026"/>
          <p:cNvSpPr/>
          <p:nvPr/>
        </p:nvSpPr>
        <p:spPr>
          <a:xfrm>
            <a:off x="1188720" y="4800600"/>
            <a:ext cx="3378491" cy="373380"/>
          </a:xfrm>
          <a:prstGeom prst="roundRect">
            <a:avLst>
              <a:gd name="adj" fmla="val 50000"/>
            </a:avLst>
          </a:prstGeom>
          <a:solidFill>
            <a:srgbClr val="3F6577"/>
          </a:solidFill>
          <a:ln>
            <a:noFill/>
          </a:ln>
        </p:spPr>
        <p:style>
          <a:lnRef idx="1">
            <a:schemeClr val="accent1"/>
          </a:lnRef>
          <a:fillRef idx="3">
            <a:schemeClr val="accent1"/>
          </a:fillRef>
          <a:effectRef idx="2">
            <a:schemeClr val="accent1"/>
          </a:effectRef>
          <a:fontRef idx="minor">
            <a:schemeClr val="lt1"/>
          </a:fontRef>
        </p:style>
        <p:txBody>
          <a:bodyPr rtlCol="0" anchor="ctr" wrap="none" lIns="201168" rIns="201168" tIns="0" bIns="0"/>
          <a:lstStyle/>
          <a:p>
            <a:pPr algn="ctr"/>
            <a:r>
              <a:rPr sz="1400" b="1">
                <a:solidFill>
                  <a:srgbClr val="FFFDF7"/>
                </a:solidFill>
                <a:latin typeface="Calibri"/>
              </a:rPr>
              <a:t>Education Track  ·  HackRU Fall 2026</a:t>
            </a:r>
          </a:p>
        </p:txBody>
      </p:sp>
      <p:sp>
        <p:nvSpPr>
          <p:cNvPr id="23" name="Repository"/>
          <p:cNvSpPr txBox="1"/>
          <p:nvPr/>
        </p:nvSpPr>
        <p:spPr>
          <a:xfrm>
            <a:off x="1188720" y="5532120"/>
            <a:ext cx="6858000" cy="365760"/>
          </a:xfrm>
          <a:prstGeom prst="rect">
            <a:avLst/>
          </a:prstGeom>
          <a:noFill/>
        </p:spPr>
        <p:txBody>
          <a:bodyPr wrap="square" lIns="0" rIns="0" tIns="0" bIns="0" anchor="t">
            <a:spAutoFit/>
          </a:bodyPr>
          <a:lstStyle/>
          <a:p>
            <a:pPr algn="l">
              <a:lnSpc>
                <a:spcPct val="110000"/>
              </a:lnSpc>
            </a:pPr>
            <a:r>
              <a:rPr sz="1500" b="1" i="0">
                <a:solidFill>
                  <a:srgbClr val="3F6577"/>
                </a:solidFill>
                <a:latin typeface="Calibri"/>
              </a:rPr>
              <a:t>github.com/allenz2423/hackruf26</a:t>
            </a:r>
          </a:p>
        </p:txBody>
      </p:sp>
      <p:pic>
        <p:nvPicPr>
          <p:cNvPr id="24" name="Jot celebrating" descr="Jot celebrating"/>
          <p:cNvPicPr>
            <a:picLocks noChangeAspect="1"/>
          </p:cNvPicPr>
          <p:nvPr/>
        </p:nvPicPr>
        <p:blipFill>
          <a:blip r:embed="rId2"/>
          <a:stretch>
            <a:fillRect/>
          </a:stretch>
        </p:blipFill>
        <p:spPr>
          <a:xfrm>
            <a:off x="7772400" y="1097280"/>
            <a:ext cx="4754880" cy="4754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Jot: the study buddy that sees your screen</dc:title>
  <dc:subject>HackRU Fall 2026, Education Track</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